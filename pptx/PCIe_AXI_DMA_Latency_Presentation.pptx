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72" r:id="rId33"/>
    <p:sldId id="268" r:id="rId19"/>
    <p:sldId id="269" r:id="rId20"/>
    <p:sldId id="270" r:id="rId21"/>
    <p:sldId id="271" r:id="rId22"/>
  </p:sldIdLst>
  <p:sldSz cy="6858000" cx="12191675"/>
  <p:notesSz cx="6858000" cy="9144000"/>
  <p:embeddedFontLst>
    <p:embeddedFont>
      <p:font typeface="Inter SemiBold"/>
      <p:regular r:id="rId23"/>
      <p:bold r:id="rId24"/>
      <p:italic r:id="rId25"/>
      <p:boldItalic r:id="rId26"/>
    </p:embeddedFont>
    <p:embeddedFont>
      <p:font typeface="Inter"/>
      <p:bold r:id="rId27"/>
      <p:boldItalic r:id="rId28"/>
    </p:embeddedFont>
    <p:embeddedFont>
      <p:font typeface="Inter Medium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34C121-D570-4C51-A400-0DCA44E2BBC6}">
  <a:tblStyle styleId="{5934C121-D570-4C51-A400-0DCA44E2BBC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A4F06CFE-2483-4902-98DF-AEE79B8EB225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font" Target="fonts/InterSemiBold-regular.fntdata"/><Relationship Id="rId24" Type="http://schemas.openxmlformats.org/officeDocument/2006/relationships/font" Target="fonts/InterSemiBold-bold.fntdata"/><Relationship Id="rId25" Type="http://schemas.openxmlformats.org/officeDocument/2006/relationships/font" Target="fonts/InterSemiBold-italic.fntdata"/><Relationship Id="rId26" Type="http://schemas.openxmlformats.org/officeDocument/2006/relationships/font" Target="fonts/InterSemiBold-boldItalic.fntdata"/><Relationship Id="rId27" Type="http://schemas.openxmlformats.org/officeDocument/2006/relationships/font" Target="fonts/Inter-bold.fntdata"/><Relationship Id="rId28" Type="http://schemas.openxmlformats.org/officeDocument/2006/relationships/font" Target="fonts/Inter-boldItalic.fntdata"/><Relationship Id="rId29" Type="http://schemas.openxmlformats.org/officeDocument/2006/relationships/font" Target="fonts/InterMedium-regular.fntdata"/><Relationship Id="rId30" Type="http://schemas.openxmlformats.org/officeDocument/2006/relationships/font" Target="fonts/InterMedium-bold.fntdata"/><Relationship Id="rId31" Type="http://schemas.openxmlformats.org/officeDocument/2006/relationships/font" Target="fonts/InterMedium-italic.fntdata"/><Relationship Id="rId32" Type="http://schemas.openxmlformats.org/officeDocument/2006/relationships/font" Target="fonts/InterMedium-boldItalic.fntdata"/><Relationship Id="rId33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98cf3b479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f98cf3b479_0_4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98cf3b479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f98cf3b479_0_3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98cf3b479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f98cf3b479_0_2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98cf3b479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f98cf3b479_0_3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415589" y="1536633"/>
            <a:ext cx="11360400" cy="45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Krishnavardhan18/pcie_axi_dma_latency/tree/main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/>
          <p:nvPr/>
        </p:nvSpPr>
        <p:spPr>
          <a:xfrm>
            <a:off x="-12" y="6126470"/>
            <a:ext cx="12191700" cy="183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822960" y="777240"/>
            <a:ext cx="1051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9CB8E0"/>
                </a:solidFill>
                <a:latin typeface="Calibri"/>
                <a:ea typeface="Calibri"/>
                <a:cs typeface="Calibri"/>
                <a:sym typeface="Calibri"/>
              </a:rPr>
              <a:t>M.TECH THESIS PRESENTATION - </a:t>
            </a:r>
            <a:r>
              <a:rPr b="1" lang="en-US" sz="1600">
                <a:solidFill>
                  <a:srgbClr val="9CB8E0"/>
                </a:solidFill>
                <a:latin typeface="Calibri"/>
                <a:ea typeface="Calibri"/>
                <a:cs typeface="Calibri"/>
                <a:sym typeface="Calibri"/>
              </a:rPr>
              <a:t>DISSERTATION</a:t>
            </a:r>
            <a:r>
              <a:rPr b="1" lang="en-US" sz="1600">
                <a:solidFill>
                  <a:srgbClr val="9CB8E0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Latency Characterisation and Small-Packet</a:t>
            </a:r>
            <a:b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Batching in a PCIe-AXI DMA Streaming Pipeline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C9D6E8"/>
                </a:solidFill>
                <a:latin typeface="Calibri"/>
                <a:ea typeface="Calibri"/>
                <a:cs typeface="Calibri"/>
                <a:sym typeface="Calibri"/>
              </a:rPr>
              <a:t>A cycle-accurate SystemVerilog RTL study of PCIe + AXI-Stream DMA latency,</a:t>
            </a:r>
            <a:br>
              <a:rPr b="0" i="1" lang="en-US" sz="1600" u="none" cap="none" strike="noStrike">
                <a:solidFill>
                  <a:srgbClr val="C9D6E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600" u="none" cap="none" strike="noStrike">
                <a:solidFill>
                  <a:srgbClr val="C9D6E8"/>
                </a:solidFill>
                <a:latin typeface="Calibri"/>
                <a:ea typeface="Calibri"/>
                <a:cs typeface="Calibri"/>
                <a:sym typeface="Calibri"/>
              </a:rPr>
              <a:t>validated against a closed-form analytical model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822960" y="4632953"/>
            <a:ext cx="4206300" cy="153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822960" y="4736225"/>
            <a:ext cx="5486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Name: Krishna Vardhan Chathurajupalle</a:t>
            </a:r>
            <a:endParaRPr b="1"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Roll No. 2024OVL1079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22960" y="5437035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C9D6E8"/>
                </a:solidFill>
                <a:latin typeface="Calibri"/>
                <a:ea typeface="Calibri"/>
                <a:cs typeface="Calibri"/>
                <a:sym typeface="Calibri"/>
              </a:rPr>
              <a:t>Electrical Engineering </a:t>
            </a:r>
            <a:r>
              <a:rPr b="0" i="0" lang="en-US" sz="1300" u="none" cap="none" strike="noStrike">
                <a:solidFill>
                  <a:srgbClr val="C9D6E8"/>
                </a:solidFill>
                <a:latin typeface="Calibri"/>
                <a:ea typeface="Calibri"/>
                <a:cs typeface="Calibri"/>
                <a:sym typeface="Calibri"/>
              </a:rPr>
              <a:t>Department, Indian Institute of Technology Jammu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22960" y="5760720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9D6E8"/>
                </a:solidFill>
                <a:latin typeface="Calibri"/>
                <a:ea typeface="Calibri"/>
                <a:cs typeface="Calibri"/>
                <a:sym typeface="Calibri"/>
              </a:rPr>
              <a:t>Supervisor: </a:t>
            </a:r>
            <a:r>
              <a:rPr lang="en-US" sz="1300">
                <a:solidFill>
                  <a:srgbClr val="C9D6E8"/>
                </a:solidFill>
                <a:latin typeface="Calibri"/>
                <a:ea typeface="Calibri"/>
                <a:cs typeface="Calibri"/>
                <a:sym typeface="Calibri"/>
              </a:rPr>
              <a:t>Dr Ankit Dubey, Assistant Professor</a:t>
            </a:r>
            <a:endParaRPr/>
          </a:p>
        </p:txBody>
      </p:sp>
      <p:pic>
        <p:nvPicPr>
          <p:cNvPr id="96" name="Google Shape;9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9624" y="674575"/>
            <a:ext cx="2788924" cy="105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502920" y="9144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9CB8E0"/>
                </a:solidFill>
                <a:latin typeface="Calibri"/>
                <a:ea typeface="Calibri"/>
                <a:cs typeface="Calibri"/>
                <a:sym typeface="Calibri"/>
              </a:rPr>
              <a:t>CHAPTER 1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02920" y="3657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1185855" y="6473952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2 / 15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02920" y="1371600"/>
            <a:ext cx="10881300" cy="4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▸  PCIe is the standard interconnect for attaching high-performance peripherals (NICs, SSD controllers, accelerators, FPGA devices) to a host processor.</a:t>
            </a:r>
            <a:endParaRPr/>
          </a:p>
          <a:p>
            <a:pPr indent="0" lvl="0" marL="0" marR="0" rtl="0" algn="just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▸  Bulk data movement uses DMA engines rather than processor-driven I/O, so large transfers don't consume CPU cycles per word moved.</a:t>
            </a:r>
            <a:endParaRPr/>
          </a:p>
          <a:p>
            <a:pPr indent="0" lvl="0" marL="0" marR="0" rtl="0" algn="just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▸  On the FPGA/SoC fabric side, DMA engines are built around AMBA AXI</a:t>
            </a:r>
            <a:r>
              <a:rPr lang="en-US" sz="17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7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specifically AXI4-Stream for back-pressure-aware data streams to downstream logic.</a:t>
            </a:r>
            <a:endParaRPr/>
          </a:p>
          <a:p>
            <a:pPr indent="0" lvl="0" marL="0" marR="0" rtl="0" algn="just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▸  A host ↔ device transfer crosses two protocol domains:</a:t>
            </a:r>
            <a:endParaRPr/>
          </a:p>
          <a:p>
            <a:pPr indent="0" lvl="1" marL="457200" marR="0" rtl="0" algn="just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–  PCIe side: data in Transaction Layer Packets (TLPs) — fixed header, credit-based flow control, link-level ACK round trip</a:t>
            </a:r>
            <a:endParaRPr/>
          </a:p>
          <a:p>
            <a:pPr indent="0" lvl="1" marL="457200" marR="0" rtl="0" algn="just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–  AXI side: a DMA engine translates memory-mapped bursts ↔ AXI4-Stream beats, after fetching a descriptor (source, destination, length)</a:t>
            </a:r>
            <a:endParaRPr/>
          </a:p>
          <a:p>
            <a:pPr indent="0" lvl="0" marL="0" marR="0" rtl="0" algn="just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▸  Both TLP framing and descriptor fetch impose a processing cost largely independent of transfer size </a:t>
            </a:r>
            <a:r>
              <a:rPr b="1" lang="en-US" sz="17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is </a:t>
            </a:r>
            <a:r>
              <a:rPr b="1" i="0" lang="en-US" sz="17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negligible for large transfers, but dominant for small ones.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502920" y="647395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PCIe-AXI DMA Latency Characterisation &amp; Small-Packet Batching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502920" y="9144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9CB8E0"/>
                </a:solidFill>
                <a:latin typeface="Calibri"/>
                <a:ea typeface="Calibri"/>
                <a:cs typeface="Calibri"/>
                <a:sym typeface="Calibri"/>
              </a:rPr>
              <a:t>CHAPTER 1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502920" y="3657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11185855" y="6473952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3 / 15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02920" y="1371600"/>
            <a:ext cx="6492300" cy="38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▸  Vendor IP documentation specifies functional behaviour and peak bandwidth, but rarely quantifies latency as a function of packet size.</a:t>
            </a:r>
            <a:endParaRPr/>
          </a:p>
          <a:p>
            <a:pPr indent="0" lvl="0" marL="0" marR="0" rtl="0" algn="just">
              <a:lnSpc>
                <a:spcPct val="108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▸  Architects are left to over-provision buffering or discover the fixed-overhead penalty only after silicon/FPGA bring-up.</a:t>
            </a:r>
            <a:endParaRPr/>
          </a:p>
          <a:p>
            <a:pPr indent="0" lvl="0" marL="0" marR="0" rtl="0" algn="just">
              <a:lnSpc>
                <a:spcPct val="108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▸  Neugebauer et al. (SIGCOMM 2018) confirm empirically that small-transfer PCIe performance is dominated by per-descriptor / per-TLP overhead</a:t>
            </a:r>
            <a:r>
              <a:rPr lang="en-US" sz="16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but as a black-box measurement on commodity NIC/host systems, not an instrumented, re-simulatable RTL model.</a:t>
            </a:r>
            <a:endParaRPr/>
          </a:p>
          <a:p>
            <a:pPr indent="0" lvl="0" marL="0" marR="0" rtl="0" algn="just">
              <a:lnSpc>
                <a:spcPct val="108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▸  Interrupt coalescing (Mogul &amp; Ramakrishnan, 1997) and NIC interrupt-moderation timers show that amortising fixed per-event cost over batches is a proven general technique — but its direct application inside an RTL DMA datapath is unaddressed.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7269480" y="1371600"/>
            <a:ext cx="4434840" cy="44805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7498079" y="155448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This gap motivates the thesis: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7498079" y="2057400"/>
            <a:ext cx="4023300" cy="24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▸  Build a cycle-accurate, parameterised model of a PCIe-AXI DMA pipeline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▸  Measure</a:t>
            </a:r>
            <a:r>
              <a:rPr lang="en-US" sz="14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4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how latency &amp; per-byte efficiency vary with packet size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▸  Design, implement &amp; evaluate a packet-batching mitigation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▸  ...all within a </a:t>
            </a:r>
            <a:r>
              <a:rPr lang="en-US" sz="14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synthesizable</a:t>
            </a:r>
            <a:r>
              <a:rPr b="0" i="0" lang="en-US" sz="14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, re-runnable RTL testbed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02920" y="647395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PCIe-AXI DMA Latency Characterisation &amp; Small-Packet Batching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502920" y="9144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9CB8E0"/>
                </a:solidFill>
                <a:latin typeface="Calibri"/>
                <a:ea typeface="Calibri"/>
                <a:cs typeface="Calibri"/>
                <a:sym typeface="Calibri"/>
              </a:rPr>
              <a:t>CHAPTER 2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502920" y="3657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11185855" y="6473952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4 / 15</a:t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502920" y="1325880"/>
            <a:ext cx="2724912" cy="50292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502920" y="1325880"/>
            <a:ext cx="27249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PCIe Performance</a:t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502920" y="1874519"/>
            <a:ext cx="2724912" cy="27889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612648" y="1993392"/>
            <a:ext cx="2505600" cy="13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Budruk et al. detail TLP header/credit-flow overheads.</a:t>
            </a:r>
            <a:b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Neugebauer et al. (2018) show small-DMA throughput is dominated by transaction count but as a black-box host measurement.</a:t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3364992" y="1325880"/>
            <a:ext cx="2724912" cy="502920"/>
          </a:xfrm>
          <a:prstGeom prst="rect">
            <a:avLst/>
          </a:prstGeom>
          <a:solidFill>
            <a:srgbClr val="E074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3364992" y="1325880"/>
            <a:ext cx="27249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AXI-Based DMA IP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3364992" y="1874519"/>
            <a:ext cx="2724912" cy="27889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3474720" y="1993392"/>
            <a:ext cx="2505456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AMBA AXI4 / AXI4-Stream specs (Arm) define the fabric-side protocol. AMD-Xilinx AXI DMA &amp; UltraScale+ PCIe IP guides document descriptor-ring operation but treat fetch latency as an implementation detail.</a:t>
            </a:r>
            <a:r>
              <a:rPr sz="1250"/>
              <a:t> Gu et al. [1] and Kavianipour [7] fix this at the driver level, not the datapath.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6227064" y="1325880"/>
            <a:ext cx="2724912" cy="502920"/>
          </a:xfrm>
          <a:prstGeom prst="rect">
            <a:avLst/>
          </a:prstGeom>
          <a:solidFill>
            <a:srgbClr val="279F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6227064" y="1325880"/>
            <a:ext cx="27249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Overhead Amortisation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6227064" y="1874519"/>
            <a:ext cx="2724912" cy="27889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6336792" y="1993392"/>
            <a:ext cx="2505600" cy="16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Mogul &amp; Ramakrishnan (1997): interrupt coalescing avoids receive livelock. Intel NIC interrupt-moderation timers apply the same idea in hardware at the interrupt level, not the RTL transfer level.</a:t>
            </a:r>
            <a:r>
              <a:rPr sz="1250"/>
              <a:t> Park et al. [4] apply the same amortisation idea to MB-scale PIM transfers via peer-to-peer DMA.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9089136" y="1325880"/>
            <a:ext cx="2724912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9089136" y="1325880"/>
            <a:ext cx="27249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Latency Modeling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9089136" y="1874519"/>
            <a:ext cx="2724912" cy="27889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9198864" y="1993392"/>
            <a:ext cx="2505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Kleinrock's queueing theory formalises fixed-plus-proportional service time but doesn't validate whether a real RTL implementation actually behaves this way.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02920" y="4892040"/>
            <a:ext cx="11183112" cy="1371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685800" y="4956048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07422"/>
                </a:solidFill>
                <a:latin typeface="Calibri"/>
                <a:ea typeface="Calibri"/>
                <a:cs typeface="Calibri"/>
                <a:sym typeface="Calibri"/>
              </a:rPr>
              <a:t>Research Gap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85800" y="5285232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▸  No open, per-stage, packet-size-parameterised latency model  •  No RTL-level application of batching to PCIe-AXI DMA transfers  •  No validated link between the analytical queueing model and cycle-accurate hardware measurement</a:t>
            </a:r>
            <a:r>
              <a:rPr sz="1300"/>
              <a:t>  •  Gu et al. [1] is the closest attempt, but reports only aggregate GB/s/µs -- adopted here as the baseline (Ch. 7)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502920" y="647395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PCIe-AXI DMA Latency Characterisation &amp; Small-Packet Batching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502920" y="9144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9CB8E0"/>
                </a:solidFill>
                <a:latin typeface="Calibri"/>
                <a:ea typeface="Calibri"/>
                <a:cs typeface="Calibri"/>
                <a:sym typeface="Calibri"/>
              </a:rPr>
              <a:t>CHAPTER 1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02920" y="3657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Objectives of the Thesis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11185855" y="6473952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5 / 15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502920" y="1417320"/>
            <a:ext cx="502920" cy="77724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502920" y="1417320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1143000" y="1444752"/>
            <a:ext cx="10424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Develop an analytical latency model for a PCIe transaction layer and a descriptor-based DMA engine (fixed base term + size-proportional term).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02920" y="2350008"/>
            <a:ext cx="502920" cy="77724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502920" y="2350008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1143025" y="2475353"/>
            <a:ext cx="104241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Design &amp; implement, in </a:t>
            </a:r>
            <a:r>
              <a:rPr lang="en-US" sz="15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synthesizable</a:t>
            </a:r>
            <a:r>
              <a:rPr b="0" i="0" lang="en-US" sz="15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SystemVerilog, a 7-stage behavioural pipeline that reproduces this latency behaviour cycle-accurately.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02920" y="3282696"/>
            <a:ext cx="502920" cy="77724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502920" y="3282696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1143000" y="3310128"/>
            <a:ext cx="10424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Build a directed testbench exercising the pipeline across 64 B–4 KB packet sizes and validate hardware-measured latency against the analytical model.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02920" y="4215384"/>
            <a:ext cx="502920" cy="77724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502920" y="4215384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143000" y="4242816"/>
            <a:ext cx="10424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Design a small-packet batching mechanism that coalesces packets into one larger AXI-Stream frame, and quantify its latency/efficiency improvement.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502920" y="5148072"/>
            <a:ext cx="502920" cy="77724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502920" y="5148072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1143000" y="5175504"/>
            <a:ext cx="10424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Characterise AXI-Stream FIFO depth's effect on buffering headroom and back-pressure, distinguishing it from steady-state throughput.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502920" y="647395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PCIe-AXI DMA Latency Characterisation &amp; Small-Packet Batching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502920" y="9144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9CB8E0"/>
                </a:solidFill>
                <a:latin typeface="Calibri"/>
                <a:ea typeface="Calibri"/>
                <a:cs typeface="Calibri"/>
                <a:sym typeface="Calibri"/>
              </a:rPr>
              <a:t>CHAPTER 3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502920" y="3657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Methodology — Analytical Latency Model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11185855" y="6473952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6 / 15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502920" y="132588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Every packet pays a fixed, size-independent cost plus a term proportional to its size, at each stage: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502920" y="1965960"/>
            <a:ext cx="11183112" cy="10515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731520" y="2039112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PCIe delay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3200400" y="2039112"/>
            <a:ext cx="4023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E86DE"/>
                </a:solidFill>
                <a:latin typeface="Consolas"/>
                <a:ea typeface="Consolas"/>
                <a:cs typeface="Consolas"/>
                <a:sym typeface="Consolas"/>
              </a:rPr>
              <a:t>L_PCIe(S) = T_base + ⌈S/4⌉ · T_dw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7360920" y="2039112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TLP header assembly + credit round trip, plus per-DWORD transfer time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502920" y="3154680"/>
            <a:ext cx="11183112" cy="10515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731520" y="3227832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DMA delay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3200400" y="3227832"/>
            <a:ext cx="4023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E86DE"/>
                </a:solidFill>
                <a:latin typeface="Consolas"/>
                <a:ea typeface="Consolas"/>
                <a:cs typeface="Consolas"/>
                <a:sym typeface="Consolas"/>
              </a:rPr>
              <a:t>L_DMA(S) = T_setup + ⌈S/W⌉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7360920" y="3227832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Descriptor fetch/parse overhead, plus payload / datapath-width beats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502920" y="4343400"/>
            <a:ext cx="11183112" cy="10515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731520" y="4416552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Total latency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3200400" y="4416552"/>
            <a:ext cx="4023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E86DE"/>
                </a:solidFill>
                <a:latin typeface="Consolas"/>
                <a:ea typeface="Consolas"/>
                <a:cs typeface="Consolas"/>
                <a:sym typeface="Consolas"/>
              </a:rPr>
              <a:t>L_tot(S) = L_PCIe(S) + L_DMA(S) + L_other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7360920" y="4416552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L_other = small fixed residual from pass-through pipeline stages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502920" y="5623560"/>
            <a:ext cx="111831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Efficiency η(S) = S / L_tot(S) rises monotonically with S — fixed overheads are amortised over more bytes. → Coalescing N packets into one frame of size N·S pays T_base and T_setup once instead of N times: L_tot(N·S) &lt; N·L_tot(S).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502920" y="647395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PCIe-AXI DMA Latency Characterisation &amp; Small-Packet Batching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502920" y="9144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9CB8E0"/>
                </a:solidFill>
                <a:latin typeface="Calibri"/>
                <a:ea typeface="Calibri"/>
                <a:cs typeface="Calibri"/>
                <a:sym typeface="Calibri"/>
              </a:rPr>
              <a:t>CHAPTER 4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502920" y="3657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Methodology — Pipeline Architecture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11185855" y="6473952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7 / 15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502920" y="123444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Seven AXI4-Stream-connected stages; every stage independently implements tvalid/tready so back-pressure propagates correctly end to end.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502920" y="2148840"/>
            <a:ext cx="1417320" cy="914400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502920" y="2148840"/>
            <a:ext cx="1417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Packet</a:t>
            </a:r>
            <a:b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Generator</a:t>
            </a:r>
            <a:b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(TB)</a:t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1920240" y="2468880"/>
            <a:ext cx="210312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0B0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2130552" y="2148840"/>
            <a:ext cx="1417320" cy="9144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2130552" y="2148840"/>
            <a:ext cx="1417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pcie_model</a:t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3547872" y="2468880"/>
            <a:ext cx="210312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0B0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3758184" y="2148840"/>
            <a:ext cx="1417320" cy="914400"/>
          </a:xfrm>
          <a:prstGeom prst="rect">
            <a:avLst/>
          </a:prstGeom>
          <a:solidFill>
            <a:srgbClr val="E074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3758184" y="2148840"/>
            <a:ext cx="1417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dma_model</a:t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5175504" y="2468880"/>
            <a:ext cx="210312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0B0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5385816" y="2148840"/>
            <a:ext cx="1417320" cy="914400"/>
          </a:xfrm>
          <a:prstGeom prst="rect">
            <a:avLst/>
          </a:prstGeom>
          <a:solidFill>
            <a:srgbClr val="279F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5385816" y="2148840"/>
            <a:ext cx="1417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axi_mm2s</a:t>
            </a:r>
            <a:b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_adapter</a:t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6803136" y="2468880"/>
            <a:ext cx="210312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0B0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7013448" y="2148840"/>
            <a:ext cx="1417320" cy="914400"/>
          </a:xfrm>
          <a:prstGeom prst="rect">
            <a:avLst/>
          </a:prstGeom>
          <a:solidFill>
            <a:srgbClr val="279F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7013448" y="2148840"/>
            <a:ext cx="1417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axis_fifo</a:t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8430768" y="2468880"/>
            <a:ext cx="210312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0B0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8641080" y="2148840"/>
            <a:ext cx="1417320" cy="9144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8641080" y="2148840"/>
            <a:ext cx="1417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batching</a:t>
            </a:r>
            <a:b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_unit</a:t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10058400" y="2468880"/>
            <a:ext cx="210312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0B0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10268712" y="2148840"/>
            <a:ext cx="1417320" cy="914400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10268712" y="2148840"/>
            <a:ext cx="1417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stream</a:t>
            </a:r>
            <a:b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_sink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502920" y="3291840"/>
            <a:ext cx="111831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 hardware latency_monitor observes packet-injection and stream_sink completion events directly, timestamping in RTL.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502920" y="3794760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pcie_model / dma_model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3429000" y="379476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3-state FSMs (recv → delay/setup → send); buffer full packet, hold for computed delay, replay beats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502920" y="4416552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axis_fifo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3429000" y="4416552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FWFT circular buffer, configurable depth; combinational read → zero latency when empty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502920" y="5038344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batching_unit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3429000" y="5038344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Zero-buffering pass-through; suppresses inner tlast, merges N packets into 1 frame (BATCH_COUNT / timeout)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502920" y="5660136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latency_monitor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3429000" y="566013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In-design hardware perf-counter; tags injection → completion, reports latency/efficiency/throughput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502920" y="647395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PCIe-AXI DMA Latency Characterisation &amp; Small-Packet Batching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502920" y="9144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9CB8E0"/>
                </a:solidFill>
                <a:latin typeface="Calibri"/>
                <a:ea typeface="Calibri"/>
                <a:cs typeface="Calibri"/>
                <a:sym typeface="Calibri"/>
              </a:rPr>
              <a:t>CHAPTER 5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502920" y="3657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 Done — Design &amp; Implementation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11185855" y="6473952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8 / 15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502920" y="1371600"/>
            <a:ext cx="5486400" cy="3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▸  Incremental, stage-by-stage build against stub modules </a:t>
            </a:r>
            <a:r>
              <a:rPr lang="en-US" sz="14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are </a:t>
            </a:r>
            <a:r>
              <a:rPr b="0" i="0" lang="en-US" sz="14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kept the design always elaborating, and made each stage's latency independently attributable.</a:t>
            </a:r>
            <a:endParaRPr/>
          </a:p>
          <a:p>
            <a:pPr indent="0" lvl="0" marL="0" marR="0" rtl="0" algn="just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▸  pcie_model / dma_model FSMs implement Eq. (1)/(2) exactly: S_RECV → S_DELAY/S_SETUP → S_SEND.</a:t>
            </a:r>
            <a:endParaRPr/>
          </a:p>
          <a:p>
            <a:pPr indent="0" lvl="0" marL="0" marR="0" rtl="0" algn="just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▸  Batching algorithm: per-beat decision logic  pass tdata/tkeep through unchanged, accumulate byte count, merge tlast on BATCH_COUNT or timeout.</a:t>
            </a:r>
            <a:endParaRPr/>
          </a:p>
          <a:p>
            <a:pPr indent="0" lvl="0" marL="0" marR="0" rtl="0" algn="just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▸  Single enable bit (BATCHING_EN) switches between bypass and active </a:t>
            </a:r>
            <a:r>
              <a:rPr lang="en-US" sz="14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which</a:t>
            </a:r>
            <a:r>
              <a:rPr lang="en-US" sz="14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is on</a:t>
            </a:r>
            <a:r>
              <a:rPr b="0" i="0" lang="en-US" sz="14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same RTL/testbench, clean A/B comparison.</a:t>
            </a:r>
            <a:endParaRPr b="0" i="0" sz="1450" u="none" cap="none" strike="noStrike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GitHub Repository: </a:t>
            </a:r>
            <a:r>
              <a:rPr lang="en-US" sz="145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Code Repository</a:t>
            </a:r>
            <a:endParaRPr sz="145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502920" y="647395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PCIe-AXI DMA Latency Characterisation &amp; Small-Packet Batching</a:t>
            </a:r>
            <a:endParaRPr/>
          </a:p>
        </p:txBody>
      </p:sp>
      <p:grpSp>
        <p:nvGrpSpPr>
          <p:cNvPr id="251" name="Google Shape;251;p21"/>
          <p:cNvGrpSpPr/>
          <p:nvPr/>
        </p:nvGrpSpPr>
        <p:grpSpPr>
          <a:xfrm>
            <a:off x="5989319" y="2366318"/>
            <a:ext cx="5756277" cy="2499483"/>
            <a:chOff x="1047750" y="571500"/>
            <a:chExt cx="7019850" cy="3048150"/>
          </a:xfrm>
        </p:grpSpPr>
        <p:sp>
          <p:nvSpPr>
            <p:cNvPr id="252" name="Google Shape;252;p21"/>
            <p:cNvSpPr txBox="1"/>
            <p:nvPr/>
          </p:nvSpPr>
          <p:spPr>
            <a:xfrm>
              <a:off x="1143000" y="571500"/>
              <a:ext cx="685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4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System Architecture Block Diagram</a:t>
              </a:r>
              <a:endParaRPr b="1" sz="1804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53" name="Google Shape;253;p21"/>
            <p:cNvGrpSpPr/>
            <p:nvPr/>
          </p:nvGrpSpPr>
          <p:grpSpPr>
            <a:xfrm>
              <a:off x="1143000" y="1524000"/>
              <a:ext cx="1428900" cy="666900"/>
              <a:chOff x="0" y="0"/>
              <a:chExt cx="1428900" cy="666900"/>
            </a:xfrm>
          </p:grpSpPr>
          <p:sp>
            <p:nvSpPr>
              <p:cNvPr id="254" name="Google Shape;254;p21"/>
              <p:cNvSpPr/>
              <p:nvPr/>
            </p:nvSpPr>
            <p:spPr>
              <a:xfrm>
                <a:off x="0" y="0"/>
                <a:ext cx="1428900" cy="666900"/>
              </a:xfrm>
              <a:prstGeom prst="roundRect">
                <a:avLst>
                  <a:gd fmla="val 14285" name="adj"/>
                </a:avLst>
              </a:prstGeom>
              <a:solidFill>
                <a:srgbClr val="EEF2FF"/>
              </a:solidFill>
              <a:ln cap="flat" cmpd="sng" w="15600">
                <a:solidFill>
                  <a:srgbClr val="818C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21"/>
              <p:cNvSpPr txBox="1"/>
              <p:nvPr/>
            </p:nvSpPr>
            <p:spPr>
              <a:xfrm>
                <a:off x="0" y="0"/>
                <a:ext cx="1428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1250" lIns="31250" spcFirstLastPara="1" rIns="31250" wrap="square" tIns="31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2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Packet</a:t>
                </a:r>
                <a:endParaRPr b="0" sz="902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2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Generator (TB)</a:t>
                </a:r>
                <a:endParaRPr b="0" sz="902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56" name="Google Shape;256;p21"/>
            <p:cNvGrpSpPr/>
            <p:nvPr/>
          </p:nvGrpSpPr>
          <p:grpSpPr>
            <a:xfrm>
              <a:off x="2952750" y="1524000"/>
              <a:ext cx="1428900" cy="666900"/>
              <a:chOff x="0" y="0"/>
              <a:chExt cx="1428900" cy="666900"/>
            </a:xfrm>
          </p:grpSpPr>
          <p:sp>
            <p:nvSpPr>
              <p:cNvPr id="257" name="Google Shape;257;p21"/>
              <p:cNvSpPr/>
              <p:nvPr/>
            </p:nvSpPr>
            <p:spPr>
              <a:xfrm>
                <a:off x="0" y="0"/>
                <a:ext cx="1428900" cy="666900"/>
              </a:xfrm>
              <a:prstGeom prst="roundRect">
                <a:avLst>
                  <a:gd fmla="val 14285" name="adj"/>
                </a:avLst>
              </a:prstGeom>
              <a:solidFill>
                <a:srgbClr val="EEF2FF"/>
              </a:solidFill>
              <a:ln cap="flat" cmpd="sng" w="15600">
                <a:solidFill>
                  <a:srgbClr val="818C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21"/>
              <p:cNvSpPr txBox="1"/>
              <p:nvPr/>
            </p:nvSpPr>
            <p:spPr>
              <a:xfrm>
                <a:off x="0" y="0"/>
                <a:ext cx="1428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1250" lIns="31250" spcFirstLastPara="1" rIns="31250" wrap="square" tIns="31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84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pcie_model</a:t>
                </a:r>
                <a:endParaRPr b="0" sz="984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59" name="Google Shape;259;p21"/>
            <p:cNvGrpSpPr/>
            <p:nvPr/>
          </p:nvGrpSpPr>
          <p:grpSpPr>
            <a:xfrm>
              <a:off x="4762500" y="1524000"/>
              <a:ext cx="1428900" cy="666900"/>
              <a:chOff x="0" y="0"/>
              <a:chExt cx="1428900" cy="666900"/>
            </a:xfrm>
          </p:grpSpPr>
          <p:sp>
            <p:nvSpPr>
              <p:cNvPr id="260" name="Google Shape;260;p21"/>
              <p:cNvSpPr/>
              <p:nvPr/>
            </p:nvSpPr>
            <p:spPr>
              <a:xfrm>
                <a:off x="0" y="0"/>
                <a:ext cx="1428900" cy="666900"/>
              </a:xfrm>
              <a:prstGeom prst="roundRect">
                <a:avLst>
                  <a:gd fmla="val 14285" name="adj"/>
                </a:avLst>
              </a:prstGeom>
              <a:solidFill>
                <a:srgbClr val="EEF2FF"/>
              </a:solidFill>
              <a:ln cap="flat" cmpd="sng" w="15600">
                <a:solidFill>
                  <a:srgbClr val="818C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21"/>
              <p:cNvSpPr txBox="1"/>
              <p:nvPr/>
            </p:nvSpPr>
            <p:spPr>
              <a:xfrm>
                <a:off x="0" y="0"/>
                <a:ext cx="1428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1250" lIns="31250" spcFirstLastPara="1" rIns="31250" wrap="square" tIns="31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84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dma_model</a:t>
                </a:r>
                <a:endParaRPr b="0" sz="984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62" name="Google Shape;262;p21"/>
            <p:cNvGrpSpPr/>
            <p:nvPr/>
          </p:nvGrpSpPr>
          <p:grpSpPr>
            <a:xfrm>
              <a:off x="6572250" y="1524000"/>
              <a:ext cx="1428900" cy="666900"/>
              <a:chOff x="0" y="0"/>
              <a:chExt cx="1428900" cy="666900"/>
            </a:xfrm>
          </p:grpSpPr>
          <p:sp>
            <p:nvSpPr>
              <p:cNvPr id="263" name="Google Shape;263;p21"/>
              <p:cNvSpPr/>
              <p:nvPr/>
            </p:nvSpPr>
            <p:spPr>
              <a:xfrm>
                <a:off x="0" y="0"/>
                <a:ext cx="1428900" cy="666900"/>
              </a:xfrm>
              <a:prstGeom prst="roundRect">
                <a:avLst>
                  <a:gd fmla="val 14285" name="adj"/>
                </a:avLst>
              </a:prstGeom>
              <a:solidFill>
                <a:srgbClr val="EEF2FF"/>
              </a:solidFill>
              <a:ln cap="flat" cmpd="sng" w="15600">
                <a:solidFill>
                  <a:srgbClr val="818C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21"/>
              <p:cNvSpPr txBox="1"/>
              <p:nvPr/>
            </p:nvSpPr>
            <p:spPr>
              <a:xfrm>
                <a:off x="0" y="0"/>
                <a:ext cx="1428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1250" lIns="31250" spcFirstLastPara="1" rIns="31250" wrap="square" tIns="31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2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axi_mm2s</a:t>
                </a:r>
                <a:endParaRPr b="0" sz="902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2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_adapter</a:t>
                </a:r>
                <a:endParaRPr b="0" sz="902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65" name="Google Shape;265;p21"/>
            <p:cNvGrpSpPr/>
            <p:nvPr/>
          </p:nvGrpSpPr>
          <p:grpSpPr>
            <a:xfrm>
              <a:off x="6572250" y="2952750"/>
              <a:ext cx="1428900" cy="666900"/>
              <a:chOff x="0" y="0"/>
              <a:chExt cx="1428900" cy="666900"/>
            </a:xfrm>
          </p:grpSpPr>
          <p:sp>
            <p:nvSpPr>
              <p:cNvPr id="266" name="Google Shape;266;p21"/>
              <p:cNvSpPr/>
              <p:nvPr/>
            </p:nvSpPr>
            <p:spPr>
              <a:xfrm>
                <a:off x="0" y="0"/>
                <a:ext cx="1428900" cy="666900"/>
              </a:xfrm>
              <a:prstGeom prst="roundRect">
                <a:avLst>
                  <a:gd fmla="val 14285" name="adj"/>
                </a:avLst>
              </a:prstGeom>
              <a:solidFill>
                <a:srgbClr val="EEF2FF"/>
              </a:solidFill>
              <a:ln cap="flat" cmpd="sng" w="15600">
                <a:solidFill>
                  <a:srgbClr val="818C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21"/>
              <p:cNvSpPr txBox="1"/>
              <p:nvPr/>
            </p:nvSpPr>
            <p:spPr>
              <a:xfrm>
                <a:off x="0" y="0"/>
                <a:ext cx="1428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1250" lIns="31250" spcFirstLastPara="1" rIns="31250" wrap="square" tIns="31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84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axis_fifo</a:t>
                </a:r>
                <a:endParaRPr b="0" sz="984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68" name="Google Shape;268;p21"/>
            <p:cNvGrpSpPr/>
            <p:nvPr/>
          </p:nvGrpSpPr>
          <p:grpSpPr>
            <a:xfrm>
              <a:off x="4762500" y="2952750"/>
              <a:ext cx="1428900" cy="666900"/>
              <a:chOff x="0" y="0"/>
              <a:chExt cx="1428900" cy="666900"/>
            </a:xfrm>
          </p:grpSpPr>
          <p:sp>
            <p:nvSpPr>
              <p:cNvPr id="269" name="Google Shape;269;p21"/>
              <p:cNvSpPr/>
              <p:nvPr/>
            </p:nvSpPr>
            <p:spPr>
              <a:xfrm>
                <a:off x="0" y="0"/>
                <a:ext cx="1428900" cy="666900"/>
              </a:xfrm>
              <a:prstGeom prst="roundRect">
                <a:avLst>
                  <a:gd fmla="val 14285" name="adj"/>
                </a:avLst>
              </a:prstGeom>
              <a:solidFill>
                <a:srgbClr val="EEF2FF"/>
              </a:solidFill>
              <a:ln cap="flat" cmpd="sng" w="15600">
                <a:solidFill>
                  <a:srgbClr val="818C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21"/>
              <p:cNvSpPr txBox="1"/>
              <p:nvPr/>
            </p:nvSpPr>
            <p:spPr>
              <a:xfrm>
                <a:off x="0" y="0"/>
                <a:ext cx="1428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1250" lIns="31250" spcFirstLastPara="1" rIns="31250" wrap="square" tIns="31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84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batching</a:t>
                </a:r>
                <a:endParaRPr b="0" sz="984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84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_unit</a:t>
                </a:r>
                <a:endParaRPr b="0" sz="984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71" name="Google Shape;271;p21"/>
            <p:cNvGrpSpPr/>
            <p:nvPr/>
          </p:nvGrpSpPr>
          <p:grpSpPr>
            <a:xfrm>
              <a:off x="2952750" y="2952750"/>
              <a:ext cx="1428900" cy="666900"/>
              <a:chOff x="0" y="0"/>
              <a:chExt cx="1428900" cy="666900"/>
            </a:xfrm>
          </p:grpSpPr>
          <p:sp>
            <p:nvSpPr>
              <p:cNvPr id="272" name="Google Shape;272;p21"/>
              <p:cNvSpPr/>
              <p:nvPr/>
            </p:nvSpPr>
            <p:spPr>
              <a:xfrm>
                <a:off x="0" y="0"/>
                <a:ext cx="1428900" cy="666900"/>
              </a:xfrm>
              <a:prstGeom prst="roundRect">
                <a:avLst>
                  <a:gd fmla="val 14285" name="adj"/>
                </a:avLst>
              </a:prstGeom>
              <a:solidFill>
                <a:srgbClr val="EEF2FF"/>
              </a:solidFill>
              <a:ln cap="flat" cmpd="sng" w="15600">
                <a:solidFill>
                  <a:srgbClr val="818C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21"/>
              <p:cNvSpPr txBox="1"/>
              <p:nvPr/>
            </p:nvSpPr>
            <p:spPr>
              <a:xfrm>
                <a:off x="0" y="0"/>
                <a:ext cx="1428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1250" lIns="31250" spcFirstLastPara="1" rIns="31250" wrap="square" tIns="31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84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stream</a:t>
                </a:r>
                <a:endParaRPr b="0" sz="984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84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_sink</a:t>
                </a:r>
                <a:endParaRPr b="0" sz="984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74" name="Google Shape;274;p21"/>
            <p:cNvGrpSpPr/>
            <p:nvPr/>
          </p:nvGrpSpPr>
          <p:grpSpPr>
            <a:xfrm>
              <a:off x="1143000" y="2952750"/>
              <a:ext cx="1428900" cy="666900"/>
              <a:chOff x="0" y="0"/>
              <a:chExt cx="1428900" cy="666900"/>
            </a:xfrm>
          </p:grpSpPr>
          <p:sp>
            <p:nvSpPr>
              <p:cNvPr id="275" name="Google Shape;275;p21"/>
              <p:cNvSpPr/>
              <p:nvPr/>
            </p:nvSpPr>
            <p:spPr>
              <a:xfrm>
                <a:off x="0" y="0"/>
                <a:ext cx="1428900" cy="666900"/>
              </a:xfrm>
              <a:prstGeom prst="roundRect">
                <a:avLst>
                  <a:gd fmla="val 14285" name="adj"/>
                </a:avLst>
              </a:prstGeom>
              <a:solidFill>
                <a:srgbClr val="FFEDD5"/>
              </a:solidFill>
              <a:ln cap="flat" cmpd="sng" w="15600">
                <a:solidFill>
                  <a:srgbClr val="F9731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21"/>
              <p:cNvSpPr txBox="1"/>
              <p:nvPr/>
            </p:nvSpPr>
            <p:spPr>
              <a:xfrm>
                <a:off x="0" y="0"/>
                <a:ext cx="1428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1250" lIns="31250" spcFirstLastPara="1" rIns="31250" wrap="square" tIns="31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84">
                    <a:solidFill>
                      <a:srgbClr val="9A341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latency</a:t>
                </a:r>
                <a:endParaRPr b="0" sz="984">
                  <a:solidFill>
                    <a:srgbClr val="9A341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84">
                    <a:solidFill>
                      <a:srgbClr val="9A341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_monitor</a:t>
                </a:r>
                <a:endParaRPr b="0" sz="984">
                  <a:solidFill>
                    <a:srgbClr val="9A341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pic>
          <p:nvPicPr>
            <p:cNvPr id="277" name="Google Shape;277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71750" y="1814513"/>
              <a:ext cx="3477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8" name="Google Shape;278;p21"/>
            <p:cNvSpPr txBox="1"/>
            <p:nvPr/>
          </p:nvSpPr>
          <p:spPr>
            <a:xfrm>
              <a:off x="2571750" y="1571625"/>
              <a:ext cx="381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38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gen.*</a:t>
              </a:r>
              <a:endParaRPr b="1" sz="738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79" name="Google Shape;27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81500" y="1814513"/>
              <a:ext cx="3477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1"/>
            <p:cNvSpPr txBox="1"/>
            <p:nvPr/>
          </p:nvSpPr>
          <p:spPr>
            <a:xfrm>
              <a:off x="4381500" y="1571625"/>
              <a:ext cx="381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61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pcie_m.*</a:t>
              </a:r>
              <a:endParaRPr b="1" sz="461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81" name="Google Shape;281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91250" y="1814513"/>
              <a:ext cx="3477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" name="Google Shape;282;p21"/>
            <p:cNvSpPr txBox="1"/>
            <p:nvPr/>
          </p:nvSpPr>
          <p:spPr>
            <a:xfrm>
              <a:off x="6191250" y="1571625"/>
              <a:ext cx="381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72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dma_m.*</a:t>
              </a:r>
              <a:endParaRPr b="1" sz="572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83" name="Google Shape;283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243763" y="2190750"/>
              <a:ext cx="85800" cy="728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1"/>
            <p:cNvSpPr txBox="1"/>
            <p:nvPr/>
          </p:nvSpPr>
          <p:spPr>
            <a:xfrm>
              <a:off x="7353300" y="2428875"/>
              <a:ext cx="7143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38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mm2s_m.*</a:t>
              </a:r>
              <a:endParaRPr b="1" sz="738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85" name="Google Shape;285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224588" y="3243263"/>
              <a:ext cx="3477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" name="Google Shape;286;p21"/>
            <p:cNvSpPr txBox="1"/>
            <p:nvPr/>
          </p:nvSpPr>
          <p:spPr>
            <a:xfrm>
              <a:off x="6191250" y="3000375"/>
              <a:ext cx="381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61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fifo_m.*</a:t>
              </a:r>
              <a:endParaRPr b="1" sz="461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87" name="Google Shape;287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414838" y="3243263"/>
              <a:ext cx="3477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" name="Google Shape;288;p21"/>
            <p:cNvSpPr txBox="1"/>
            <p:nvPr/>
          </p:nvSpPr>
          <p:spPr>
            <a:xfrm>
              <a:off x="4381500" y="3000375"/>
              <a:ext cx="381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batch_m.*</a:t>
              </a:r>
              <a:endParaRPr b="1" sz="406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89" name="Google Shape;289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605088" y="3243263"/>
              <a:ext cx="3477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" name="Google Shape;290;p21"/>
            <p:cNvSpPr txBox="1"/>
            <p:nvPr/>
          </p:nvSpPr>
          <p:spPr>
            <a:xfrm>
              <a:off x="2571750" y="3000375"/>
              <a:ext cx="381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61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pkt_done</a:t>
              </a:r>
              <a:endParaRPr b="1" sz="461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91" name="Google Shape;291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814513" y="2190750"/>
              <a:ext cx="85800" cy="728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" name="Google Shape;292;p21"/>
            <p:cNvSpPr txBox="1"/>
            <p:nvPr/>
          </p:nvSpPr>
          <p:spPr>
            <a:xfrm>
              <a:off x="1047750" y="2428875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39075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38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pkt_inject</a:t>
              </a:r>
              <a:endParaRPr b="1" sz="738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2"/>
          <p:cNvSpPr/>
          <p:nvPr/>
        </p:nvSpPr>
        <p:spPr>
          <a:xfrm>
            <a:off x="0" y="0"/>
            <a:ext cx="12191700" cy="1051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0" y="1051560"/>
            <a:ext cx="121917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>
            <a:off x="502920" y="91440"/>
            <a:ext cx="10515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9CB8E0"/>
                </a:solidFill>
                <a:latin typeface="Calibri"/>
                <a:ea typeface="Calibri"/>
                <a:cs typeface="Calibri"/>
                <a:sym typeface="Calibri"/>
              </a:rPr>
              <a:t>CHAPTER 5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502920" y="365760"/>
            <a:ext cx="1051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 Done — </a:t>
            </a: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11185855" y="6473952"/>
            <a:ext cx="731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8 / 15</a:t>
            </a:r>
            <a:endParaRPr/>
          </a:p>
        </p:txBody>
      </p:sp>
      <p:sp>
        <p:nvSpPr>
          <p:cNvPr id="302" name="Google Shape;302;p22"/>
          <p:cNvSpPr txBox="1"/>
          <p:nvPr/>
        </p:nvSpPr>
        <p:spPr>
          <a:xfrm>
            <a:off x="1015948" y="1951875"/>
            <a:ext cx="10159800" cy="44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800" lIns="304800" spcFirstLastPara="1" rIns="304800" wrap="square" tIns="304800">
            <a:noAutofit/>
          </a:bodyPr>
          <a:lstStyle/>
          <a:p>
            <a:pPr indent="-400050" lvl="0" marL="6096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Inter"/>
              <a:buAutoNum type="arabicPeriod"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Pass </a:t>
            </a:r>
            <a:r>
              <a:rPr b="1" lang="en-US" sz="15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rPr>
              <a:t>tdata/tkeep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through unchanged (zero-latency wiring).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0050" lvl="0" marL="609600" rtl="0" algn="l"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Inter"/>
              <a:buAutoNum type="arabicPeriod"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If this is the first beat of a new batch, latch </a:t>
            </a:r>
            <a:r>
              <a:rPr b="1" lang="en-US" sz="15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rPr>
              <a:t>first_id &amp;larr; s_tid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0050" lvl="0" marL="609600" rtl="0" algn="l"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Inter"/>
              <a:buAutoNum type="arabicPeriod"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If </a:t>
            </a:r>
            <a:r>
              <a:rPr b="1" lang="en-US" sz="15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rPr>
              <a:t>s_tlast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is asserted (an inner packet boundary):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a.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Accumulate </a:t>
            </a:r>
            <a:r>
              <a:rPr b="1" lang="en-US" sz="15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rPr>
              <a:t>pkt_cnt &amp;larr; pkt_cnt + 1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lang="en-US" sz="15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rPr>
              <a:t>batch_bytes &amp;larr; batch_bytes + s_tuser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b.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If </a:t>
            </a:r>
            <a:r>
              <a:rPr b="1" lang="en-US" sz="15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rPr>
              <a:t>pkt_cnt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has now reached </a:t>
            </a:r>
            <a:r>
              <a:rPr b="1" lang="en-US" sz="15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rPr>
              <a:t>BATCH_COUNT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or a timeout flush is pending: assert </a:t>
            </a:r>
            <a:r>
              <a:rPr b="1" lang="en-US" sz="15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rPr>
              <a:t>m_tlast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drive </a:t>
            </a:r>
            <a:r>
              <a:rPr b="1" lang="en-US" sz="15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rPr>
              <a:t>m_tuser = accumulated batch_bytes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drive </a:t>
            </a:r>
            <a:r>
              <a:rPr b="1" lang="en-US" sz="15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rPr>
              <a:t>m_tid = first_id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and reset all batch state.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c.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Otherwise, suppress </a:t>
            </a:r>
            <a:r>
              <a:rPr b="1" lang="en-US" sz="15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rPr>
              <a:t>m_tlast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(the inner boundary is invisible downstream) and continue accumulating.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0050" lvl="0" marL="609600" rtl="0" algn="l"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Inter"/>
              <a:buAutoNum type="arabicPeriod"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If no beat is accepted for </a:t>
            </a:r>
            <a:r>
              <a:rPr b="1" lang="en-US" sz="15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rPr>
              <a:t>BATCH_TIMEOUT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consecutive cycles while a batch is in progress, set </a:t>
            </a:r>
            <a:r>
              <a:rPr b="1" lang="en-US" sz="15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rPr>
              <a:t>flush_pending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causing the next </a:t>
            </a:r>
            <a:r>
              <a:rPr b="1" lang="en-US" sz="15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rPr>
              <a:t>tlast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to close the batch regardless of </a:t>
            </a:r>
            <a:r>
              <a:rPr b="1" lang="en-US" sz="150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rPr>
              <a:t>pkt_cnt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(prevents an indefinite hang on a short final batch).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3" name="Google Shape;303;p22"/>
          <p:cNvSpPr txBox="1"/>
          <p:nvPr/>
        </p:nvSpPr>
        <p:spPr>
          <a:xfrm>
            <a:off x="1015975" y="1352475"/>
            <a:ext cx="80280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Per-Beat Batching Decision</a:t>
            </a:r>
            <a:endParaRPr b="1" sz="29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Executed every cycle a beat is accepted, i.e., </a:t>
            </a:r>
            <a:r>
              <a:rPr b="1" lang="en-US" sz="1500">
                <a:solidFill>
                  <a:srgbClr val="0F172A"/>
                </a:solidFill>
                <a:highlight>
                  <a:srgbClr val="E2E8F0"/>
                </a:highlight>
                <a:latin typeface="Courier New"/>
                <a:ea typeface="Courier New"/>
                <a:cs typeface="Courier New"/>
                <a:sym typeface="Courier New"/>
              </a:rPr>
              <a:t>s_tvalid &amp;&amp; m_tready</a:t>
            </a:r>
            <a:endParaRPr sz="15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502920" y="6473952"/>
            <a:ext cx="777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PCIe-AXI DMA Latency Characterisation &amp; Small-Packet Batching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3"/>
          <p:cNvSpPr txBox="1"/>
          <p:nvPr/>
        </p:nvSpPr>
        <p:spPr>
          <a:xfrm>
            <a:off x="502920" y="9144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9CB8E0"/>
                </a:solidFill>
                <a:latin typeface="Calibri"/>
                <a:ea typeface="Calibri"/>
                <a:cs typeface="Calibri"/>
                <a:sym typeface="Calibri"/>
              </a:rPr>
              <a:t>CHAPTER 6</a:t>
            </a:r>
            <a:endParaRPr/>
          </a:p>
        </p:txBody>
      </p:sp>
      <p:sp>
        <p:nvSpPr>
          <p:cNvPr id="312" name="Google Shape;312;p23"/>
          <p:cNvSpPr txBox="1"/>
          <p:nvPr/>
        </p:nvSpPr>
        <p:spPr>
          <a:xfrm>
            <a:off x="502920" y="3657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 Done — Experimental Setup &amp; Verification</a:t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11185855" y="6473952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9 / 15</a:t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502920" y="132588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All RTL compiled, elaborated &amp; simulated with AMD-Xilinx Vivado xsim, driven via a reproducible Makefile flow.</a:t>
            </a:r>
            <a:endParaRPr/>
          </a:p>
        </p:txBody>
      </p:sp>
      <p:graphicFrame>
        <p:nvGraphicFramePr>
          <p:cNvPr id="315" name="Google Shape;315;p23"/>
          <p:cNvGraphicFramePr/>
          <p:nvPr/>
        </p:nvGraphicFramePr>
        <p:xfrm>
          <a:off x="502920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{5934C121-D570-4C51-A400-0DCA44E2BBC6}</a:tableStyleId>
              </a:tblPr>
              <a:tblGrid>
                <a:gridCol w="1188725"/>
                <a:gridCol w="2103125"/>
                <a:gridCol w="7891275"/>
              </a:tblGrid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#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Scenario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B2A4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/>
                        <a:t>Baseline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/>
                        <a:t>Batching disabled; 6 packet sizes (64B–4KB) injected in turn, latency measured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6F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/>
                        <a:t>Batching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/>
                        <a:t>BATCH_COUNT (4) × 64B packets injected back-to-back → latency of coalesced frame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/>
                        <a:t>FIFO sweep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/>
                        <a:t>Baseline loop re-run at FIFO_DEPTH ∈ {16,64,256}, with/without rate-limited sink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316" name="Google Shape;316;p23"/>
          <p:cNvSpPr txBox="1"/>
          <p:nvPr/>
        </p:nvSpPr>
        <p:spPr>
          <a:xfrm>
            <a:off x="502920" y="3703320"/>
            <a:ext cx="111831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Verification milestones (selected)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502920" y="4069080"/>
            <a:ext cx="11183100" cy="14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▸  send_packet handshake bug: tready polled in the wrong simulation region, causing false hangs on the final beat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is</a:t>
            </a: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fixed with a do...while construct.</a:t>
            </a:r>
            <a:endParaRPr/>
          </a:p>
          <a:p>
            <a:pPr indent="0" lvl="0" marL="0" marR="0" rtl="0" algn="just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▸  stream_sink stall-model bug: pkt_done qualified only on (tvalid &amp;&amp; tlast), quadrupling reported pkt_count under back-pressure 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is </a:t>
            </a: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fixed by gating on (tvalid &amp;&amp; tready &amp;&amp; tlast).</a:t>
            </a:r>
            <a:endParaRPr/>
          </a:p>
          <a:p>
            <a:pPr indent="0" lvl="0" marL="0" marR="0" rtl="0" algn="just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▸  fifo_occupancy width bug: port sized from package default instead of instance parameter, silently truncating occupancy for FIFO_DEPTH=256 </a:t>
            </a:r>
            <a:r>
              <a:rPr lang="en-US" sz="13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is also</a:t>
            </a: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fixed.</a:t>
            </a:r>
            <a:endParaRPr/>
          </a:p>
          <a:p>
            <a:pPr indent="0" lvl="0" marL="0" marR="0" rtl="0" algn="just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▸  8 regression runs completed with zero timeouts, assertion failures, or watchdog firings.</a:t>
            </a: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502920" y="647395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PCIe-AXI DMA Latency Characterisation &amp; Small-Packet Batching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4"/>
          <p:cNvSpPr/>
          <p:nvPr/>
        </p:nvSpPr>
        <p:spPr>
          <a:xfrm>
            <a:off x="0" y="0"/>
            <a:ext cx="12191700" cy="1051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0" y="1051560"/>
            <a:ext cx="121917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4"/>
          <p:cNvSpPr txBox="1"/>
          <p:nvPr/>
        </p:nvSpPr>
        <p:spPr>
          <a:xfrm>
            <a:off x="502920" y="91440"/>
            <a:ext cx="10515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9CB8E0"/>
                </a:solidFill>
                <a:latin typeface="Calibri"/>
                <a:ea typeface="Calibri"/>
                <a:cs typeface="Calibri"/>
                <a:sym typeface="Calibri"/>
              </a:rPr>
              <a:t>CHAPTER 7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502920" y="365760"/>
            <a:ext cx="1051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Outcome — </a:t>
            </a: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11185855" y="6473952"/>
            <a:ext cx="731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10 / 15</a:t>
            </a:r>
            <a:endParaRPr/>
          </a:p>
        </p:txBody>
      </p:sp>
      <p:grpSp>
        <p:nvGrpSpPr>
          <p:cNvPr id="328" name="Google Shape;328;p24"/>
          <p:cNvGrpSpPr/>
          <p:nvPr/>
        </p:nvGrpSpPr>
        <p:grpSpPr>
          <a:xfrm>
            <a:off x="761975" y="1651016"/>
            <a:ext cx="2348960" cy="2706857"/>
            <a:chOff x="0" y="0"/>
            <a:chExt cx="2476500" cy="2190900"/>
          </a:xfrm>
        </p:grpSpPr>
        <p:sp>
          <p:nvSpPr>
            <p:cNvPr id="329" name="Google Shape;329;p24"/>
            <p:cNvSpPr/>
            <p:nvPr/>
          </p:nvSpPr>
          <p:spPr>
            <a:xfrm>
              <a:off x="0" y="0"/>
              <a:ext cx="2476500" cy="2190900"/>
            </a:xfrm>
            <a:prstGeom prst="roundRect">
              <a:avLst>
                <a:gd fmla="val 3478" name="adj"/>
              </a:avLst>
            </a:prstGeom>
            <a:solidFill>
              <a:srgbClr val="FFFFFF"/>
            </a:solidFill>
            <a:ln cap="flat" cmpd="sng" w="90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4"/>
            <p:cNvSpPr txBox="1"/>
            <p:nvPr/>
          </p:nvSpPr>
          <p:spPr>
            <a:xfrm>
              <a:off x="142875" y="142875"/>
              <a:ext cx="2190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25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Baseline Latency (cycles)</a:t>
              </a:r>
              <a:endParaRPr b="0" sz="925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pic>
          <p:nvPicPr>
            <p:cNvPr id="331" name="Google Shape;33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8625" y="1709738"/>
              <a:ext cx="18861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2" name="Google Shape;332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8625" y="1233488"/>
              <a:ext cx="18861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" name="Google Shape;333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8625" y="757238"/>
              <a:ext cx="18861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4" name="Google Shape;334;p24"/>
            <p:cNvSpPr/>
            <p:nvPr/>
          </p:nvSpPr>
          <p:spPr>
            <a:xfrm>
              <a:off x="476250" y="571500"/>
              <a:ext cx="1809600" cy="11145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24000" y="117949"/>
                  </a:lnTo>
                  <a:lnTo>
                    <a:pt x="48000" y="113846"/>
                  </a:lnTo>
                  <a:lnTo>
                    <a:pt x="72000" y="106667"/>
                  </a:lnTo>
                  <a:lnTo>
                    <a:pt x="96000" y="91282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22600">
              <a:solidFill>
                <a:srgbClr val="6366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4"/>
            <p:cNvSpPr/>
            <p:nvPr/>
          </p:nvSpPr>
          <p:spPr>
            <a:xfrm>
              <a:off x="438150" y="1647825"/>
              <a:ext cx="76200" cy="7620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4"/>
            <p:cNvSpPr/>
            <p:nvPr/>
          </p:nvSpPr>
          <p:spPr>
            <a:xfrm>
              <a:off x="800100" y="1628775"/>
              <a:ext cx="76200" cy="7620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4"/>
            <p:cNvSpPr/>
            <p:nvPr/>
          </p:nvSpPr>
          <p:spPr>
            <a:xfrm>
              <a:off x="1162050" y="1590675"/>
              <a:ext cx="76200" cy="7620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4"/>
            <p:cNvSpPr/>
            <p:nvPr/>
          </p:nvSpPr>
          <p:spPr>
            <a:xfrm>
              <a:off x="1524000" y="1524000"/>
              <a:ext cx="76200" cy="7620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4"/>
            <p:cNvSpPr/>
            <p:nvPr/>
          </p:nvSpPr>
          <p:spPr>
            <a:xfrm>
              <a:off x="1885950" y="1381125"/>
              <a:ext cx="76200" cy="7620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4"/>
            <p:cNvSpPr/>
            <p:nvPr/>
          </p:nvSpPr>
          <p:spPr>
            <a:xfrm>
              <a:off x="2247900" y="533400"/>
              <a:ext cx="76200" cy="7620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4"/>
            <p:cNvSpPr txBox="1"/>
            <p:nvPr/>
          </p:nvSpPr>
          <p:spPr>
            <a:xfrm>
              <a:off x="142875" y="523875"/>
              <a:ext cx="2382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11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2K</a:t>
              </a:r>
              <a:endParaRPr sz="71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11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1K</a:t>
              </a:r>
              <a:endParaRPr sz="71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11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</a:t>
              </a:r>
              <a:endParaRPr sz="71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42" name="Google Shape;342;p24"/>
            <p:cNvSpPr txBox="1"/>
            <p:nvPr/>
          </p:nvSpPr>
          <p:spPr>
            <a:xfrm>
              <a:off x="381000" y="1790700"/>
              <a:ext cx="2000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11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641282565121K4K</a:t>
              </a:r>
              <a:endParaRPr sz="71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43" name="Google Shape;343;p24"/>
            <p:cNvSpPr txBox="1"/>
            <p:nvPr/>
          </p:nvSpPr>
          <p:spPr>
            <a:xfrm>
              <a:off x="142875" y="2000250"/>
              <a:ext cx="21909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4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Packet size (bytes)</a:t>
              </a:r>
              <a:endParaRPr sz="64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4" name="Google Shape;344;p24"/>
          <p:cNvGrpSpPr/>
          <p:nvPr/>
        </p:nvGrpSpPr>
        <p:grpSpPr>
          <a:xfrm>
            <a:off x="3343550" y="1651016"/>
            <a:ext cx="2348960" cy="2706857"/>
            <a:chOff x="0" y="0"/>
            <a:chExt cx="2476500" cy="2190900"/>
          </a:xfrm>
        </p:grpSpPr>
        <p:sp>
          <p:nvSpPr>
            <p:cNvPr id="345" name="Google Shape;345;p24"/>
            <p:cNvSpPr/>
            <p:nvPr/>
          </p:nvSpPr>
          <p:spPr>
            <a:xfrm>
              <a:off x="0" y="0"/>
              <a:ext cx="2476500" cy="2190900"/>
            </a:xfrm>
            <a:prstGeom prst="roundRect">
              <a:avLst>
                <a:gd fmla="val 3478" name="adj"/>
              </a:avLst>
            </a:prstGeom>
            <a:solidFill>
              <a:srgbClr val="FFFFFF"/>
            </a:solidFill>
            <a:ln cap="flat" cmpd="sng" w="90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4"/>
            <p:cNvSpPr txBox="1"/>
            <p:nvPr/>
          </p:nvSpPr>
          <p:spPr>
            <a:xfrm>
              <a:off x="142875" y="142875"/>
              <a:ext cx="2190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25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Baseline Efficiency (B/cyc)</a:t>
              </a:r>
              <a:endParaRPr b="0" sz="925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pic>
          <p:nvPicPr>
            <p:cNvPr id="347" name="Google Shape;347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8625" y="1709738"/>
              <a:ext cx="18861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" name="Google Shape;348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8625" y="1233488"/>
              <a:ext cx="18861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8625" y="757238"/>
              <a:ext cx="18861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0" name="Google Shape;350;p24"/>
            <p:cNvSpPr/>
            <p:nvPr/>
          </p:nvSpPr>
          <p:spPr>
            <a:xfrm>
              <a:off x="476250" y="776288"/>
              <a:ext cx="1809600" cy="4857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24000" y="75882"/>
                  </a:lnTo>
                  <a:lnTo>
                    <a:pt x="48000" y="42353"/>
                  </a:lnTo>
                  <a:lnTo>
                    <a:pt x="72000" y="21176"/>
                  </a:lnTo>
                  <a:lnTo>
                    <a:pt x="96000" y="8824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2260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4"/>
            <p:cNvSpPr/>
            <p:nvPr/>
          </p:nvSpPr>
          <p:spPr>
            <a:xfrm>
              <a:off x="438150" y="1223963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4"/>
            <p:cNvSpPr/>
            <p:nvPr/>
          </p:nvSpPr>
          <p:spPr>
            <a:xfrm>
              <a:off x="800100" y="1045369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4"/>
            <p:cNvSpPr/>
            <p:nvPr/>
          </p:nvSpPr>
          <p:spPr>
            <a:xfrm>
              <a:off x="1162050" y="909638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4"/>
            <p:cNvSpPr/>
            <p:nvPr/>
          </p:nvSpPr>
          <p:spPr>
            <a:xfrm>
              <a:off x="1524000" y="823913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4"/>
            <p:cNvSpPr/>
            <p:nvPr/>
          </p:nvSpPr>
          <p:spPr>
            <a:xfrm>
              <a:off x="1885950" y="773906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4"/>
            <p:cNvSpPr/>
            <p:nvPr/>
          </p:nvSpPr>
          <p:spPr>
            <a:xfrm>
              <a:off x="2247900" y="738188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4"/>
            <p:cNvSpPr txBox="1"/>
            <p:nvPr/>
          </p:nvSpPr>
          <p:spPr>
            <a:xfrm>
              <a:off x="142875" y="523875"/>
              <a:ext cx="2382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11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1.6</a:t>
              </a:r>
              <a:endParaRPr sz="71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11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1.2</a:t>
              </a:r>
              <a:endParaRPr sz="71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11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0.8</a:t>
              </a:r>
              <a:endParaRPr sz="71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8" name="Google Shape;358;p24"/>
            <p:cNvSpPr txBox="1"/>
            <p:nvPr/>
          </p:nvSpPr>
          <p:spPr>
            <a:xfrm>
              <a:off x="381000" y="1790700"/>
              <a:ext cx="2000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11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641282565121K4K</a:t>
              </a:r>
              <a:endParaRPr sz="71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9" name="Google Shape;359;p24"/>
            <p:cNvSpPr txBox="1"/>
            <p:nvPr/>
          </p:nvSpPr>
          <p:spPr>
            <a:xfrm>
              <a:off x="142875" y="2000250"/>
              <a:ext cx="21909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4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Packet size (bytes)</a:t>
              </a:r>
              <a:endParaRPr sz="64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60" name="Google Shape;360;p24"/>
          <p:cNvGrpSpPr/>
          <p:nvPr/>
        </p:nvGrpSpPr>
        <p:grpSpPr>
          <a:xfrm>
            <a:off x="5925124" y="1651016"/>
            <a:ext cx="2348960" cy="2706857"/>
            <a:chOff x="0" y="0"/>
            <a:chExt cx="2476500" cy="2190900"/>
          </a:xfrm>
        </p:grpSpPr>
        <p:sp>
          <p:nvSpPr>
            <p:cNvPr id="361" name="Google Shape;361;p24"/>
            <p:cNvSpPr/>
            <p:nvPr/>
          </p:nvSpPr>
          <p:spPr>
            <a:xfrm>
              <a:off x="0" y="0"/>
              <a:ext cx="2476500" cy="2190900"/>
            </a:xfrm>
            <a:prstGeom prst="roundRect">
              <a:avLst>
                <a:gd fmla="val 3478" name="adj"/>
              </a:avLst>
            </a:prstGeom>
            <a:solidFill>
              <a:srgbClr val="FFFFFF"/>
            </a:solidFill>
            <a:ln cap="flat" cmpd="sng" w="90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4"/>
            <p:cNvSpPr txBox="1"/>
            <p:nvPr/>
          </p:nvSpPr>
          <p:spPr>
            <a:xfrm>
              <a:off x="142875" y="142875"/>
              <a:ext cx="2190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25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Peak FIFO Occupancy (beats)</a:t>
              </a:r>
              <a:endParaRPr b="0" sz="925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pic>
          <p:nvPicPr>
            <p:cNvPr id="363" name="Google Shape;363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8625" y="1709738"/>
              <a:ext cx="18861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4" name="Google Shape;364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8625" y="1233488"/>
              <a:ext cx="18861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" name="Google Shape;365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8625" y="757238"/>
              <a:ext cx="18861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6" name="Google Shape;366;p24"/>
            <p:cNvSpPr/>
            <p:nvPr/>
          </p:nvSpPr>
          <p:spPr>
            <a:xfrm>
              <a:off x="476250" y="1641158"/>
              <a:ext cx="1809600" cy="504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24000" y="65660"/>
                  </a:lnTo>
                  <a:lnTo>
                    <a:pt x="48000" y="0"/>
                  </a:lnTo>
                  <a:lnTo>
                    <a:pt x="72000" y="0"/>
                  </a:lnTo>
                  <a:lnTo>
                    <a:pt x="96000" y="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8075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4"/>
            <p:cNvSpPr/>
            <p:nvPr/>
          </p:nvSpPr>
          <p:spPr>
            <a:xfrm>
              <a:off x="476250" y="1422083"/>
              <a:ext cx="1809600" cy="2697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24000" y="109823"/>
                  </a:lnTo>
                  <a:lnTo>
                    <a:pt x="48000" y="89470"/>
                  </a:lnTo>
                  <a:lnTo>
                    <a:pt x="72000" y="38587"/>
                  </a:lnTo>
                  <a:lnTo>
                    <a:pt x="96000" y="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8075">
              <a:solidFill>
                <a:srgbClr val="D946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4"/>
            <p:cNvSpPr/>
            <p:nvPr/>
          </p:nvSpPr>
          <p:spPr>
            <a:xfrm>
              <a:off x="476250" y="571500"/>
              <a:ext cx="1809600" cy="11202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24000" y="117551"/>
                  </a:lnTo>
                  <a:lnTo>
                    <a:pt x="48000" y="110204"/>
                  </a:lnTo>
                  <a:lnTo>
                    <a:pt x="72000" y="97959"/>
                  </a:lnTo>
                  <a:lnTo>
                    <a:pt x="96000" y="75408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8075">
              <a:solidFill>
                <a:srgbClr val="F59E0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4"/>
            <p:cNvSpPr/>
            <p:nvPr/>
          </p:nvSpPr>
          <p:spPr>
            <a:xfrm>
              <a:off x="2257425" y="1612583"/>
              <a:ext cx="57300" cy="573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4"/>
            <p:cNvSpPr/>
            <p:nvPr/>
          </p:nvSpPr>
          <p:spPr>
            <a:xfrm>
              <a:off x="2257425" y="1393508"/>
              <a:ext cx="57300" cy="57300"/>
            </a:xfrm>
            <a:prstGeom prst="ellipse">
              <a:avLst/>
            </a:prstGeom>
            <a:solidFill>
              <a:srgbClr val="D946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4"/>
            <p:cNvSpPr/>
            <p:nvPr/>
          </p:nvSpPr>
          <p:spPr>
            <a:xfrm>
              <a:off x="2257425" y="542925"/>
              <a:ext cx="57300" cy="57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4"/>
            <p:cNvSpPr txBox="1"/>
            <p:nvPr/>
          </p:nvSpPr>
          <p:spPr>
            <a:xfrm>
              <a:off x="142875" y="523875"/>
              <a:ext cx="2382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11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250</a:t>
              </a:r>
              <a:endParaRPr sz="71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11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125</a:t>
              </a:r>
              <a:endParaRPr sz="71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11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</a:t>
              </a:r>
              <a:endParaRPr sz="71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3" name="Google Shape;373;p24"/>
            <p:cNvSpPr txBox="1"/>
            <p:nvPr/>
          </p:nvSpPr>
          <p:spPr>
            <a:xfrm>
              <a:off x="381000" y="1790700"/>
              <a:ext cx="2000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11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641282565121K4K</a:t>
              </a:r>
              <a:endParaRPr sz="71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4" name="Google Shape;374;p24"/>
            <p:cNvSpPr txBox="1"/>
            <p:nvPr/>
          </p:nvSpPr>
          <p:spPr>
            <a:xfrm>
              <a:off x="142875" y="2000250"/>
              <a:ext cx="21909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4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Packet size (bytes)</a:t>
              </a:r>
              <a:endParaRPr sz="64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75" name="Google Shape;375;p24"/>
          <p:cNvSpPr txBox="1"/>
          <p:nvPr/>
        </p:nvSpPr>
        <p:spPr>
          <a:xfrm>
            <a:off x="5991955" y="4647081"/>
            <a:ext cx="3301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Depth-16 Depth-64 Depth-256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4"/>
          <p:cNvSpPr txBox="1"/>
          <p:nvPr/>
        </p:nvSpPr>
        <p:spPr>
          <a:xfrm>
            <a:off x="848924" y="4647081"/>
            <a:ext cx="22620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Measured baseline end-to-end latency (cycles) and effective efficiency (bytes/cycle) versus packet size plotted on a log-scale x-axis.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" name="Google Shape;37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06725" y="1651000"/>
            <a:ext cx="3202800" cy="278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4"/>
          <p:cNvSpPr txBox="1"/>
          <p:nvPr/>
        </p:nvSpPr>
        <p:spPr>
          <a:xfrm>
            <a:off x="3343547" y="4647081"/>
            <a:ext cx="23490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Peak FIFO occupancy versus packet size under rate-limited sink. Shallower FIFOs saturate and trigger back-pressure earlier.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4"/>
          <p:cNvSpPr txBox="1"/>
          <p:nvPr/>
        </p:nvSpPr>
        <p:spPr>
          <a:xfrm>
            <a:off x="8506721" y="4657241"/>
            <a:ext cx="32028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230 = 71 (first packet) + 3×53 (inter-packet gaps). Fixed PCIe/DMA overhead paid once per 256B frame instead of 4× → 1.25× efficiency improvement, using the same RTL/testbench with a single enable bit.</a:t>
            </a:r>
            <a:endParaRPr/>
          </a:p>
        </p:txBody>
      </p:sp>
      <p:sp>
        <p:nvSpPr>
          <p:cNvPr id="380" name="Google Shape;380;p24"/>
          <p:cNvSpPr txBox="1"/>
          <p:nvPr/>
        </p:nvSpPr>
        <p:spPr>
          <a:xfrm>
            <a:off x="502920" y="6473952"/>
            <a:ext cx="777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PCIe-AXI DMA Latency Characterisation &amp; Small-Packet Batching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5"/>
          <p:cNvSpPr/>
          <p:nvPr/>
        </p:nvSpPr>
        <p:spPr>
          <a:xfrm>
            <a:off x="0" y="0"/>
            <a:ext cx="12191700" cy="1051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5"/>
          <p:cNvSpPr/>
          <p:nvPr/>
        </p:nvSpPr>
        <p:spPr>
          <a:xfrm>
            <a:off x="0" y="1051560"/>
            <a:ext cx="121917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5"/>
          <p:cNvSpPr txBox="1"/>
          <p:nvPr/>
        </p:nvSpPr>
        <p:spPr>
          <a:xfrm>
            <a:off x="502920" y="91440"/>
            <a:ext cx="10515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9CB8E0"/>
                </a:solidFill>
                <a:latin typeface="Calibri"/>
                <a:ea typeface="Calibri"/>
                <a:cs typeface="Calibri"/>
                <a:sym typeface="Calibri"/>
              </a:rPr>
              <a:t>CHAPTER 7</a:t>
            </a:r>
            <a:endParaRPr/>
          </a:p>
        </p:txBody>
      </p:sp>
      <p:sp>
        <p:nvSpPr>
          <p:cNvPr id="388" name="Google Shape;388;p25"/>
          <p:cNvSpPr txBox="1"/>
          <p:nvPr/>
        </p:nvSpPr>
        <p:spPr>
          <a:xfrm>
            <a:off x="502920" y="365760"/>
            <a:ext cx="1051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Outcome —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Hardware Metrics</a:t>
            </a:r>
            <a:endParaRPr/>
          </a:p>
        </p:txBody>
      </p:sp>
      <p:sp>
        <p:nvSpPr>
          <p:cNvPr id="389" name="Google Shape;389;p25"/>
          <p:cNvSpPr txBox="1"/>
          <p:nvPr/>
        </p:nvSpPr>
        <p:spPr>
          <a:xfrm>
            <a:off x="11185855" y="6473952"/>
            <a:ext cx="731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11 / 15</a:t>
            </a:r>
            <a:endParaRPr/>
          </a:p>
        </p:txBody>
      </p:sp>
      <p:sp>
        <p:nvSpPr>
          <p:cNvPr id="390" name="Google Shape;390;p25"/>
          <p:cNvSpPr txBox="1"/>
          <p:nvPr/>
        </p:nvSpPr>
        <p:spPr>
          <a:xfrm>
            <a:off x="502920" y="6473952"/>
            <a:ext cx="777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PCIe-AXI DMA Latency Characterisation &amp; Small-Packet Batching</a:t>
            </a:r>
            <a:endParaRPr/>
          </a:p>
        </p:txBody>
      </p:sp>
      <p:graphicFrame>
        <p:nvGraphicFramePr>
          <p:cNvPr id="391" name="Google Shape;391;p25"/>
          <p:cNvGraphicFramePr/>
          <p:nvPr/>
        </p:nvGraphicFramePr>
        <p:xfrm>
          <a:off x="1326505" y="141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{A4F06CFE-2483-4902-98DF-AEE79B8EB225}</a:tableStyleId>
              </a:tblPr>
              <a:tblGrid>
                <a:gridCol w="1268250"/>
                <a:gridCol w="1268250"/>
                <a:gridCol w="1268250"/>
              </a:tblGrid>
              <a:tr h="229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Packet Size (B)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0" marB="63500" marR="101600" marL="101600"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Latency (cycles)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0" marB="63500" marR="101600" marL="101600"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Efficiency (B/cyc)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0" marB="63500" marR="101600" marL="101600"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64</a:t>
                      </a:r>
                      <a:endParaRPr b="0" sz="1100">
                        <a:solidFill>
                          <a:srgbClr val="334155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T="50800" marB="50800" marR="101600" marL="101600"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71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0800" marB="50800" marR="101600" marL="101600"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0.90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0800" marB="50800" marR="101600" marL="101600"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34155"/>
                          </a:solidFill>
                          <a:highlight>
                            <a:srgbClr val="FCFDFD"/>
                          </a:highlight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128</a:t>
                      </a:r>
                      <a:endParaRPr b="0" sz="1100">
                        <a:solidFill>
                          <a:srgbClr val="334155"/>
                        </a:solidFill>
                        <a:highlight>
                          <a:srgbClr val="FCFDFD"/>
                        </a:highlight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T="50800" marB="508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highlight>
                            <a:srgbClr val="FCFDFD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111</a:t>
                      </a:r>
                      <a:endParaRPr sz="1100">
                        <a:solidFill>
                          <a:srgbClr val="334155"/>
                        </a:solidFill>
                        <a:highlight>
                          <a:srgbClr val="FCFDFD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0800" marB="508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highlight>
                            <a:srgbClr val="FCFDFD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1.15</a:t>
                      </a:r>
                      <a:endParaRPr sz="1100">
                        <a:solidFill>
                          <a:srgbClr val="334155"/>
                        </a:solidFill>
                        <a:highlight>
                          <a:srgbClr val="FCFDFD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0800" marB="508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</a:tr>
              <a:tr h="215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256</a:t>
                      </a:r>
                      <a:endParaRPr b="0" sz="1100">
                        <a:solidFill>
                          <a:srgbClr val="334155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T="50800" marB="508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191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0800" marB="508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1.34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0800" marB="508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34155"/>
                          </a:solidFill>
                          <a:highlight>
                            <a:srgbClr val="FCFDFD"/>
                          </a:highlight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512</a:t>
                      </a:r>
                      <a:endParaRPr b="0" sz="1100">
                        <a:solidFill>
                          <a:srgbClr val="334155"/>
                        </a:solidFill>
                        <a:highlight>
                          <a:srgbClr val="FCFDFD"/>
                        </a:highlight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T="50800" marB="508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highlight>
                            <a:srgbClr val="FCFDFD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351</a:t>
                      </a:r>
                      <a:endParaRPr sz="1100">
                        <a:solidFill>
                          <a:srgbClr val="334155"/>
                        </a:solidFill>
                        <a:highlight>
                          <a:srgbClr val="FCFDFD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0800" marB="508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highlight>
                            <a:srgbClr val="FCFDFD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1.46</a:t>
                      </a:r>
                      <a:endParaRPr sz="1100">
                        <a:solidFill>
                          <a:srgbClr val="334155"/>
                        </a:solidFill>
                        <a:highlight>
                          <a:srgbClr val="FCFDFD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0800" marB="508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</a:tr>
              <a:tr h="215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1024</a:t>
                      </a:r>
                      <a:endParaRPr b="0" sz="1100">
                        <a:solidFill>
                          <a:srgbClr val="334155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T="50800" marB="508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671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0800" marB="508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1.53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0800" marB="508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34155"/>
                          </a:solidFill>
                          <a:highlight>
                            <a:srgbClr val="FCFDFD"/>
                          </a:highlight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4096</a:t>
                      </a:r>
                      <a:endParaRPr b="0" sz="1100">
                        <a:solidFill>
                          <a:srgbClr val="334155"/>
                        </a:solidFill>
                        <a:highlight>
                          <a:srgbClr val="FCFDFD"/>
                        </a:highlight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T="50800" marB="508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highlight>
                            <a:srgbClr val="FCFDFD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2591</a:t>
                      </a:r>
                      <a:endParaRPr sz="1100">
                        <a:solidFill>
                          <a:srgbClr val="334155"/>
                        </a:solidFill>
                        <a:highlight>
                          <a:srgbClr val="FCFDFD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0800" marB="508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highlight>
                            <a:srgbClr val="FCFDFD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1.58</a:t>
                      </a:r>
                      <a:endParaRPr sz="1100">
                        <a:solidFill>
                          <a:srgbClr val="334155"/>
                        </a:solidFill>
                        <a:highlight>
                          <a:srgbClr val="FCFDFD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0800" marB="508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2" name="Google Shape;392;p25"/>
          <p:cNvGraphicFramePr/>
          <p:nvPr/>
        </p:nvGraphicFramePr>
        <p:xfrm>
          <a:off x="1379717" y="383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{A4F06CFE-2483-4902-98DF-AEE79B8EB225}</a:tableStyleId>
              </a:tblPr>
              <a:tblGrid>
                <a:gridCol w="1232775"/>
                <a:gridCol w="1232775"/>
                <a:gridCol w="1232775"/>
              </a:tblGrid>
              <a:tr h="41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Configuration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0" marB="63500" marR="101600" marL="101600"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Latency (cyc)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0" marB="63500" marR="101600" marL="101600"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Eff (B/cyc)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0" marB="63500" marR="101600" marL="101600"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 x 64 B sent independently (baseline)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0" marB="63500" marR="101600" marL="101600"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284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0" marB="63500" marR="101600" marL="101600"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0.90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0" marB="63500" marR="101600" marL="101600"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highlight>
                            <a:srgbClr val="FCFDFD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 x 256 B batched frame (Scenario 1)</a:t>
                      </a:r>
                      <a:endParaRPr sz="1100">
                        <a:solidFill>
                          <a:srgbClr val="334155"/>
                        </a:solidFill>
                        <a:highlight>
                          <a:srgbClr val="FCFDFD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0" marB="635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highlight>
                            <a:srgbClr val="FCFDFD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230</a:t>
                      </a:r>
                      <a:endParaRPr sz="1100">
                        <a:solidFill>
                          <a:srgbClr val="334155"/>
                        </a:solidFill>
                        <a:highlight>
                          <a:srgbClr val="FCFDFD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0" marB="635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highlight>
                            <a:srgbClr val="FCFDFD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1.11</a:t>
                      </a:r>
                      <a:endParaRPr sz="1100">
                        <a:solidFill>
                          <a:srgbClr val="334155"/>
                        </a:solidFill>
                        <a:highlight>
                          <a:srgbClr val="FCFDFD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0" marB="635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</a:tr>
              <a:tr h="41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047857"/>
                          </a:solidFill>
                          <a:highlight>
                            <a:srgbClr val="EBFDF5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Improvement</a:t>
                      </a:r>
                      <a:endParaRPr b="1" sz="1100">
                        <a:solidFill>
                          <a:srgbClr val="047857"/>
                        </a:solidFill>
                        <a:highlight>
                          <a:srgbClr val="EBFDF5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B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047857"/>
                          </a:solidFill>
                          <a:highlight>
                            <a:srgbClr val="EBFDF5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19.0% reduction</a:t>
                      </a:r>
                      <a:endParaRPr b="1" sz="1100">
                        <a:solidFill>
                          <a:srgbClr val="047857"/>
                        </a:solidFill>
                        <a:highlight>
                          <a:srgbClr val="EBFDF5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B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047857"/>
                          </a:solidFill>
                          <a:highlight>
                            <a:srgbClr val="EBFDF5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1.25x eff</a:t>
                      </a:r>
                      <a:endParaRPr b="1" sz="1100">
                        <a:solidFill>
                          <a:srgbClr val="047857"/>
                        </a:solidFill>
                        <a:highlight>
                          <a:srgbClr val="EBFDF5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BFD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3" name="Google Shape;393;p25"/>
          <p:cNvGraphicFramePr/>
          <p:nvPr/>
        </p:nvGraphicFramePr>
        <p:xfrm>
          <a:off x="5985431" y="141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{A4F06CFE-2483-4902-98DF-AEE79B8EB225}</a:tableStyleId>
              </a:tblPr>
              <a:tblGrid>
                <a:gridCol w="863350"/>
                <a:gridCol w="863350"/>
                <a:gridCol w="863350"/>
                <a:gridCol w="863350"/>
                <a:gridCol w="863350"/>
              </a:tblGrid>
              <a:tr h="480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Size (B)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PCIe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DMA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Other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6366F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Total</a:t>
                      </a:r>
                      <a:endParaRPr sz="1100">
                        <a:solidFill>
                          <a:srgbClr val="6366F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64</a:t>
                      </a:r>
                      <a:endParaRPr b="0" sz="1100">
                        <a:solidFill>
                          <a:srgbClr val="334155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44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24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 sz="1100">
                        <a:solidFill>
                          <a:srgbClr val="64748B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4F46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71</a:t>
                      </a:r>
                      <a:endParaRPr b="1" sz="1100">
                        <a:solidFill>
                          <a:srgbClr val="4F46E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34155"/>
                          </a:solidFill>
                          <a:highlight>
                            <a:srgbClr val="FCFDFD"/>
                          </a:highlight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128</a:t>
                      </a:r>
                      <a:endParaRPr b="0" sz="1100">
                        <a:solidFill>
                          <a:srgbClr val="334155"/>
                        </a:solidFill>
                        <a:highlight>
                          <a:srgbClr val="FCFDFD"/>
                        </a:highlight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highlight>
                            <a:srgbClr val="FCFDFD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68</a:t>
                      </a:r>
                      <a:endParaRPr sz="1100">
                        <a:solidFill>
                          <a:srgbClr val="334155"/>
                        </a:solidFill>
                        <a:highlight>
                          <a:srgbClr val="FCFDFD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highlight>
                            <a:srgbClr val="FCFDFD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40</a:t>
                      </a:r>
                      <a:endParaRPr sz="1100">
                        <a:solidFill>
                          <a:srgbClr val="334155"/>
                        </a:solidFill>
                        <a:highlight>
                          <a:srgbClr val="FCFDFD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64748B"/>
                          </a:solidFill>
                          <a:highlight>
                            <a:srgbClr val="FCFDFD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 sz="1100">
                        <a:solidFill>
                          <a:srgbClr val="64748B"/>
                        </a:solidFill>
                        <a:highlight>
                          <a:srgbClr val="FCFDFD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4F46E5"/>
                          </a:solidFill>
                          <a:highlight>
                            <a:srgbClr val="FCFDFD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111</a:t>
                      </a:r>
                      <a:endParaRPr b="1" sz="1100">
                        <a:solidFill>
                          <a:srgbClr val="4F46E5"/>
                        </a:solidFill>
                        <a:highlight>
                          <a:srgbClr val="FCFDFD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</a:tr>
              <a:tr h="37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256</a:t>
                      </a:r>
                      <a:endParaRPr b="0" sz="1100">
                        <a:solidFill>
                          <a:srgbClr val="334155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116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72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 sz="1100">
                        <a:solidFill>
                          <a:srgbClr val="64748B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4F46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191</a:t>
                      </a:r>
                      <a:endParaRPr b="1" sz="1100">
                        <a:solidFill>
                          <a:srgbClr val="4F46E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34155"/>
                          </a:solidFill>
                          <a:highlight>
                            <a:srgbClr val="FCFDFD"/>
                          </a:highlight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512</a:t>
                      </a:r>
                      <a:endParaRPr b="0" sz="1100">
                        <a:solidFill>
                          <a:srgbClr val="334155"/>
                        </a:solidFill>
                        <a:highlight>
                          <a:srgbClr val="FCFDFD"/>
                        </a:highlight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highlight>
                            <a:srgbClr val="FCFDFD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212</a:t>
                      </a:r>
                      <a:endParaRPr sz="1100">
                        <a:solidFill>
                          <a:srgbClr val="334155"/>
                        </a:solidFill>
                        <a:highlight>
                          <a:srgbClr val="FCFDFD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highlight>
                            <a:srgbClr val="FCFDFD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136</a:t>
                      </a:r>
                      <a:endParaRPr sz="1100">
                        <a:solidFill>
                          <a:srgbClr val="334155"/>
                        </a:solidFill>
                        <a:highlight>
                          <a:srgbClr val="FCFDFD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64748B"/>
                          </a:solidFill>
                          <a:highlight>
                            <a:srgbClr val="FCFDFD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 sz="1100">
                        <a:solidFill>
                          <a:srgbClr val="64748B"/>
                        </a:solidFill>
                        <a:highlight>
                          <a:srgbClr val="FCFDFD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4F46E5"/>
                          </a:solidFill>
                          <a:highlight>
                            <a:srgbClr val="FCFDFD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351</a:t>
                      </a:r>
                      <a:endParaRPr b="1" sz="1100">
                        <a:solidFill>
                          <a:srgbClr val="4F46E5"/>
                        </a:solidFill>
                        <a:highlight>
                          <a:srgbClr val="FCFDFD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</a:tr>
              <a:tr h="37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1024</a:t>
                      </a:r>
                      <a:endParaRPr b="0" sz="1100">
                        <a:solidFill>
                          <a:srgbClr val="334155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404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264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 sz="1100">
                        <a:solidFill>
                          <a:srgbClr val="64748B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4F46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671</a:t>
                      </a:r>
                      <a:endParaRPr b="1" sz="1100">
                        <a:solidFill>
                          <a:srgbClr val="4F46E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34155"/>
                          </a:solidFill>
                          <a:highlight>
                            <a:srgbClr val="FCFDFD"/>
                          </a:highlight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4096</a:t>
                      </a:r>
                      <a:endParaRPr b="0" sz="1100">
                        <a:solidFill>
                          <a:srgbClr val="334155"/>
                        </a:solidFill>
                        <a:highlight>
                          <a:srgbClr val="FCFDFD"/>
                        </a:highlight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highlight>
                            <a:srgbClr val="FCFDFD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1556</a:t>
                      </a:r>
                      <a:endParaRPr sz="1100">
                        <a:solidFill>
                          <a:srgbClr val="334155"/>
                        </a:solidFill>
                        <a:highlight>
                          <a:srgbClr val="FCFDFD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highlight>
                            <a:srgbClr val="FCFDFD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1032</a:t>
                      </a:r>
                      <a:endParaRPr sz="1100">
                        <a:solidFill>
                          <a:srgbClr val="334155"/>
                        </a:solidFill>
                        <a:highlight>
                          <a:srgbClr val="FCFDFD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64748B"/>
                          </a:solidFill>
                          <a:highlight>
                            <a:srgbClr val="FCFDFD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 sz="1100">
                        <a:solidFill>
                          <a:srgbClr val="64748B"/>
                        </a:solidFill>
                        <a:highlight>
                          <a:srgbClr val="FCFDFD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4F46E5"/>
                          </a:solidFill>
                          <a:highlight>
                            <a:srgbClr val="FCFDFD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2591</a:t>
                      </a:r>
                      <a:endParaRPr b="1" sz="1100">
                        <a:solidFill>
                          <a:srgbClr val="4F46E5"/>
                        </a:solidFill>
                        <a:highlight>
                          <a:srgbClr val="FCFDFD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</a:tr>
            </a:tbl>
          </a:graphicData>
        </a:graphic>
      </p:graphicFrame>
      <p:pic>
        <p:nvPicPr>
          <p:cNvPr id="394" name="Google Shape;39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5423" y="4456563"/>
            <a:ext cx="5617769" cy="188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5" name="Google Shape;385;p25"/>
          <p:cNvSpPr/>
          <p:nvPr/>
        </p:nvSpPr>
        <p:spPr>
          <a:xfrm>
            <a:off x="0" y="0"/>
            <a:ext cx="12191700" cy="1051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5"/>
          <p:cNvSpPr/>
          <p:nvPr/>
        </p:nvSpPr>
        <p:spPr>
          <a:xfrm>
            <a:off x="0" y="1051560"/>
            <a:ext cx="121917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5"/>
          <p:cNvSpPr txBox="1"/>
          <p:nvPr/>
        </p:nvSpPr>
        <p:spPr>
          <a:xfrm>
            <a:off x="502920" y="91440"/>
            <a:ext cx="10515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9CB8E0"/>
                </a:solidFill>
                <a:latin typeface="Calibri"/>
                <a:ea typeface="Calibri"/>
                <a:cs typeface="Calibri"/>
                <a:sym typeface="Calibri"/>
              </a:rPr>
              <a:t>CHAPTER 7</a:t>
            </a:r>
            <a:endParaRPr/>
          </a:p>
        </p:txBody>
      </p:sp>
      <p:sp>
        <p:nvSpPr>
          <p:cNvPr id="388" name="Google Shape;388;p25"/>
          <p:cNvSpPr txBox="1"/>
          <p:nvPr/>
        </p:nvSpPr>
        <p:spPr>
          <a:xfrm>
            <a:off x="502920" y="365760"/>
            <a:ext cx="1051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Outcome —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Comparison with Prior Work</a:t>
            </a:r>
            <a:endParaRPr/>
          </a:p>
        </p:txBody>
      </p:sp>
      <p:sp>
        <p:nvSpPr>
          <p:cNvPr id="389" name="Google Shape;389;p25"/>
          <p:cNvSpPr txBox="1"/>
          <p:nvPr/>
        </p:nvSpPr>
        <p:spPr>
          <a:xfrm>
            <a:off x="11185855" y="6473952"/>
            <a:ext cx="731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11 / 15</a:t>
            </a:r>
            <a:endParaRPr/>
          </a:p>
        </p:txBody>
      </p:sp>
      <p:sp>
        <p:nvSpPr>
          <p:cNvPr id="390" name="Google Shape;390;p25"/>
          <p:cNvSpPr txBox="1"/>
          <p:nvPr/>
        </p:nvSpPr>
        <p:spPr>
          <a:xfrm>
            <a:off x="502920" y="6473952"/>
            <a:ext cx="777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PCIe-AXI DMA Latency Characterisation &amp; Small-Packet Batching</a:t>
            </a:r>
            <a:endParaRPr/>
          </a:p>
        </p:txBody>
      </p:sp>
      <p:graphicFrame>
        <p:nvGraphicFramePr>
          <p:cNvPr id="392" name="Google Shape;392;p25"/>
          <p:cNvGraphicFramePr/>
          <p:nvPr/>
        </p:nvGraphicFramePr>
        <p:xfrm>
          <a:off x="502920" y="1450000"/>
          <a:ext cx="11185600" cy="3500000"/>
        </p:xfrm>
        <a:graphic>
          <a:graphicData uri="http://schemas.openxmlformats.org/drawingml/2006/table">
            <a:tbl>
              <a:tblPr>
                <a:noFill/>
                <a:tableStyleId>{A4F06CFE-2483-4902-98DF-AEE79B8EB225}</a:tableStyleId>
              </a:tblPr>
              <a:tblGrid>
                <a:gridCol w="2350000"/>
                <a:gridCol w="4450000"/>
                <a:gridCol w="4385600"/>
              </a:tblGrid>
              <a:tr h="38000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Study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0" marB="63500" marR="101600" marL="101600" anchor="t"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Approach &amp; where it's applied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0" marB="63500" marR="101600" marL="101600" anchor="t"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Result &amp; attributability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0" marB="63500" marR="101600" marL="101600" anchor="t"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000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Gu et al. [1] (2025)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0" marB="63500" marR="101600" marL="101600" anchor="t"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Linux driver descriptor prefetch + PCIe config-space extended tag + multicore host dispatch, on real VC709/XDMA hardware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0" marB="63500" marR="101600" marL="101600" anchor="t"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123-136% bandwidth, 15-24% latency gain (randomised mix). Three mechanisms enabled together -- one combined GB/s / µs figure, no per-mechanism split</a:t>
                      </a:r>
                      <a:endParaRPr sz="1100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0" marB="63500" marR="101600" marL="101600" anchor="t"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000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highlight>
                            <a:srgbClr val="FCFDFD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Kavianipour &amp; Böhm [7] (2012)</a:t>
                      </a:r>
                      <a:endParaRPr sz="1100">
                        <a:solidFill>
                          <a:srgbClr val="334155"/>
                        </a:solidFill>
                        <a:highlight>
                          <a:srgbClr val="FCFDFD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0" marB="63500" marR="101600" marL="101600" anchor="t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highlight>
                            <a:srgbClr val="FCFDFD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Host-side buffer merging before the DMA call, bus-master scatter/gather DMA</a:t>
                      </a:r>
                      <a:endParaRPr sz="1100">
                        <a:solidFill>
                          <a:srgbClr val="334155"/>
                        </a:solidFill>
                        <a:highlight>
                          <a:srgbClr val="FCFDFD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0" marB="63500" marR="101600" marL="101600" anchor="t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highlight>
                            <a:srgbClr val="FCFDFD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Up to 1080 MB/s for merged writes vs. much lower for small (12 B) un-merged buffers. Throughput only, no latency breakdown</a:t>
                      </a:r>
                      <a:endParaRPr sz="1100">
                        <a:solidFill>
                          <a:srgbClr val="334155"/>
                        </a:solidFill>
                        <a:highlight>
                          <a:srgbClr val="FCFDFD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3500" marB="63500" marR="101600" marL="101600" anchor="t">
                    <a:lnT cap="flat" cmpd="sng" w="12700">
                      <a:solidFill>
                        <a:srgbClr val="F1F5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D"/>
                    </a:solidFill>
                  </a:tcPr>
                </a:tc>
              </a:tr>
              <a:tr h="1120000"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047857"/>
                          </a:solidFill>
                          <a:highlight>
                            <a:srgbClr val="EBFDF5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This thesis</a:t>
                      </a:r>
                      <a:endParaRPr b="1" sz="1100">
                        <a:solidFill>
                          <a:srgbClr val="047857"/>
                        </a:solidFill>
                        <a:highlight>
                          <a:srgbClr val="EBFDF5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 anchor="t"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B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047857"/>
                          </a:solidFill>
                          <a:highlight>
                            <a:srgbClr val="EBFDF5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batching_unit — a single RTL block on the AXI4-Stream side, upstream of pcie_model / dma_model. No driver or host changes</a:t>
                      </a:r>
                      <a:endParaRPr b="1" sz="1100">
                        <a:solidFill>
                          <a:srgbClr val="047857"/>
                        </a:solidFill>
                        <a:highlight>
                          <a:srgbClr val="EBFDF5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 anchor="t"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BF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047857"/>
                          </a:solidFill>
                          <a:highlight>
                            <a:srgbClr val="EBFDF5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19.0% latency reduction, 1.25x efficiency (4x64B to 1x256B). Fully attributable: it is the only block that differs between baseline and batched runs</a:t>
                      </a:r>
                      <a:endParaRPr b="1" sz="1100">
                        <a:solidFill>
                          <a:srgbClr val="047857"/>
                        </a:solidFill>
                        <a:highlight>
                          <a:srgbClr val="EBFDF5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76200" marB="76200" marR="101600" marL="101600" anchor="t"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BFDF5"/>
                    </a:solidFill>
                  </a:tcPr>
                </a:tc>
              </a:tr>
            </a:tbl>
          </a:graphicData>
        </a:graphic>
      </p:graphicFrame>
      <p:sp>
        <p:nvSpPr>
          <p:cNvPr id="393" name="TextBox 392"/>
          <p:cNvSpPr txBox="1"/>
          <p:nvPr/>
        </p:nvSpPr>
        <p:spPr>
          <a:xfrm>
            <a:off x="502920" y="5150000"/>
            <a:ext cx="11185600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A5A5A"/>
                </a:solidFill>
                <a:latin typeface="Calibri"/>
              </a:rPr>
              <a:t>The part of this thesis's architecture responsible for the improvement is the batching_unit stage: it is the only block that changes between the baseline and batched configurations, so the full 19% reduction is attributable to it alone. Gu et al.'s comparable improvement is the joint effect of three separate changes, and cannot be attributed to any one of them.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6"/>
          <p:cNvSpPr/>
          <p:nvPr/>
        </p:nvSpPr>
        <p:spPr>
          <a:xfrm>
            <a:off x="0" y="0"/>
            <a:ext cx="12191700" cy="1051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6"/>
          <p:cNvSpPr/>
          <p:nvPr/>
        </p:nvSpPr>
        <p:spPr>
          <a:xfrm>
            <a:off x="0" y="1051560"/>
            <a:ext cx="121917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6"/>
          <p:cNvSpPr txBox="1"/>
          <p:nvPr/>
        </p:nvSpPr>
        <p:spPr>
          <a:xfrm>
            <a:off x="502920" y="91440"/>
            <a:ext cx="10515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9CB8E0"/>
                </a:solidFill>
                <a:latin typeface="Calibri"/>
                <a:ea typeface="Calibri"/>
                <a:cs typeface="Calibri"/>
                <a:sym typeface="Calibri"/>
              </a:rPr>
              <a:t>CHAPTER 7</a:t>
            </a:r>
            <a:endParaRPr/>
          </a:p>
        </p:txBody>
      </p:sp>
      <p:sp>
        <p:nvSpPr>
          <p:cNvPr id="402" name="Google Shape;402;p26"/>
          <p:cNvSpPr txBox="1"/>
          <p:nvPr/>
        </p:nvSpPr>
        <p:spPr>
          <a:xfrm>
            <a:off x="502920" y="365760"/>
            <a:ext cx="1051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Outcome — </a:t>
            </a: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Simulation Results</a:t>
            </a:r>
            <a:endParaRPr/>
          </a:p>
        </p:txBody>
      </p:sp>
      <p:sp>
        <p:nvSpPr>
          <p:cNvPr id="403" name="Google Shape;403;p26"/>
          <p:cNvSpPr txBox="1"/>
          <p:nvPr/>
        </p:nvSpPr>
        <p:spPr>
          <a:xfrm>
            <a:off x="11185855" y="6473952"/>
            <a:ext cx="731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11 / 15</a:t>
            </a:r>
            <a:endParaRPr/>
          </a:p>
        </p:txBody>
      </p:sp>
      <p:pic>
        <p:nvPicPr>
          <p:cNvPr id="404" name="Google Shape;404;p26"/>
          <p:cNvPicPr preferRelativeResize="0"/>
          <p:nvPr/>
        </p:nvPicPr>
        <p:blipFill rotWithShape="1">
          <a:blip r:embed="rId3">
            <a:alphaModFix/>
          </a:blip>
          <a:srcRect b="0" l="0" r="22033" t="0"/>
          <a:stretch/>
        </p:blipFill>
        <p:spPr>
          <a:xfrm>
            <a:off x="6907925" y="3968725"/>
            <a:ext cx="3823847" cy="215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025" y="1187075"/>
            <a:ext cx="6513424" cy="470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07925" y="1350900"/>
            <a:ext cx="4390224" cy="2155875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6"/>
          <p:cNvSpPr txBox="1"/>
          <p:nvPr/>
        </p:nvSpPr>
        <p:spPr>
          <a:xfrm>
            <a:off x="502920" y="6473952"/>
            <a:ext cx="777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PCIe-AXI DMA Latency Characterisation &amp; Small-Packet Batching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7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7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7"/>
          <p:cNvSpPr txBox="1"/>
          <p:nvPr/>
        </p:nvSpPr>
        <p:spPr>
          <a:xfrm>
            <a:off x="502920" y="9144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9CB8E0"/>
                </a:solidFill>
                <a:latin typeface="Calibri"/>
                <a:ea typeface="Calibri"/>
                <a:cs typeface="Calibri"/>
                <a:sym typeface="Calibri"/>
              </a:rPr>
              <a:t>CHAPTER 8</a:t>
            </a:r>
            <a:endParaRPr/>
          </a:p>
        </p:txBody>
      </p:sp>
      <p:sp>
        <p:nvSpPr>
          <p:cNvPr id="415" name="Google Shape;415;p27"/>
          <p:cNvSpPr txBox="1"/>
          <p:nvPr/>
        </p:nvSpPr>
        <p:spPr>
          <a:xfrm>
            <a:off x="502920" y="3657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Contributions</a:t>
            </a:r>
            <a:endParaRPr/>
          </a:p>
        </p:txBody>
      </p:sp>
      <p:sp>
        <p:nvSpPr>
          <p:cNvPr id="416" name="Google Shape;416;p27"/>
          <p:cNvSpPr txBox="1"/>
          <p:nvPr/>
        </p:nvSpPr>
        <p:spPr>
          <a:xfrm>
            <a:off x="11185855" y="6473952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12 / 15</a:t>
            </a:r>
            <a:endParaRPr/>
          </a:p>
        </p:txBody>
      </p:sp>
      <p:sp>
        <p:nvSpPr>
          <p:cNvPr id="417" name="Google Shape;417;p27"/>
          <p:cNvSpPr/>
          <p:nvPr/>
        </p:nvSpPr>
        <p:spPr>
          <a:xfrm>
            <a:off x="502920" y="1371600"/>
            <a:ext cx="73152" cy="9144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7"/>
          <p:cNvSpPr txBox="1"/>
          <p:nvPr/>
        </p:nvSpPr>
        <p:spPr>
          <a:xfrm>
            <a:off x="777240" y="1371600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Validated Analytical Model</a:t>
            </a:r>
            <a:endParaRPr/>
          </a:p>
        </p:txBody>
      </p:sp>
      <p:sp>
        <p:nvSpPr>
          <p:cNvPr id="419" name="Google Shape;419;p27"/>
          <p:cNvSpPr txBox="1"/>
          <p:nvPr/>
        </p:nvSpPr>
        <p:spPr>
          <a:xfrm>
            <a:off x="4892040" y="1371600"/>
            <a:ext cx="6766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Closed-form, packet-size-parameterised PCIe+DMA latency model, matched to cycle-accurate HW measurement within a constant residual across a 64× size range.</a:t>
            </a:r>
            <a:endParaRPr/>
          </a:p>
        </p:txBody>
      </p:sp>
      <p:sp>
        <p:nvSpPr>
          <p:cNvPr id="420" name="Google Shape;420;p27"/>
          <p:cNvSpPr/>
          <p:nvPr/>
        </p:nvSpPr>
        <p:spPr>
          <a:xfrm>
            <a:off x="502920" y="2340864"/>
            <a:ext cx="73152" cy="914400"/>
          </a:xfrm>
          <a:prstGeom prst="rect">
            <a:avLst/>
          </a:prstGeom>
          <a:solidFill>
            <a:srgbClr val="E074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7"/>
          <p:cNvSpPr txBox="1"/>
          <p:nvPr/>
        </p:nvSpPr>
        <p:spPr>
          <a:xfrm>
            <a:off x="777240" y="2340864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Open RTL Pipeline</a:t>
            </a:r>
            <a:endParaRPr/>
          </a:p>
        </p:txBody>
      </p:sp>
      <p:sp>
        <p:nvSpPr>
          <p:cNvPr id="422" name="Google Shape;422;p27"/>
          <p:cNvSpPr txBox="1"/>
          <p:nvPr/>
        </p:nvSpPr>
        <p:spPr>
          <a:xfrm>
            <a:off x="4892040" y="2340864"/>
            <a:ext cx="6766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Synthesisable 7-stage SystemVerilog PCIe-AXI DMA model with a directed, self-checking testbench — re-parameterisable for further study.</a:t>
            </a:r>
            <a:endParaRPr/>
          </a:p>
        </p:txBody>
      </p:sp>
      <p:sp>
        <p:nvSpPr>
          <p:cNvPr id="423" name="Google Shape;423;p27"/>
          <p:cNvSpPr/>
          <p:nvPr/>
        </p:nvSpPr>
        <p:spPr>
          <a:xfrm>
            <a:off x="502920" y="3310128"/>
            <a:ext cx="73152" cy="914400"/>
          </a:xfrm>
          <a:prstGeom prst="rect">
            <a:avLst/>
          </a:prstGeom>
          <a:solidFill>
            <a:srgbClr val="279F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7"/>
          <p:cNvSpPr txBox="1"/>
          <p:nvPr/>
        </p:nvSpPr>
        <p:spPr>
          <a:xfrm>
            <a:off x="777240" y="3310128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In-Design Latency Monitor</a:t>
            </a:r>
            <a:endParaRPr/>
          </a:p>
        </p:txBody>
      </p:sp>
      <p:sp>
        <p:nvSpPr>
          <p:cNvPr id="425" name="Google Shape;425;p27"/>
          <p:cNvSpPr txBox="1"/>
          <p:nvPr/>
        </p:nvSpPr>
        <p:spPr>
          <a:xfrm>
            <a:off x="4892040" y="3310128"/>
            <a:ext cx="6766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Hardware performance-counter block timestamping injection/completion directly in RTL — avoids software-side reference-point misalignment.</a:t>
            </a:r>
            <a:endParaRPr/>
          </a:p>
        </p:txBody>
      </p:sp>
      <p:sp>
        <p:nvSpPr>
          <p:cNvPr id="426" name="Google Shape;426;p27"/>
          <p:cNvSpPr/>
          <p:nvPr/>
        </p:nvSpPr>
        <p:spPr>
          <a:xfrm>
            <a:off x="502920" y="4279392"/>
            <a:ext cx="73152" cy="9144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7"/>
          <p:cNvSpPr txBox="1"/>
          <p:nvPr/>
        </p:nvSpPr>
        <p:spPr>
          <a:xfrm>
            <a:off x="777240" y="4279392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Small-Packet Batching Unit</a:t>
            </a:r>
            <a:endParaRPr/>
          </a:p>
        </p:txBody>
      </p:sp>
      <p:sp>
        <p:nvSpPr>
          <p:cNvPr id="428" name="Google Shape;428;p27"/>
          <p:cNvSpPr txBox="1"/>
          <p:nvPr/>
        </p:nvSpPr>
        <p:spPr>
          <a:xfrm>
            <a:off x="4892040" y="4279392"/>
            <a:ext cx="6766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Zero-buffering pass-through coalescer: 19% latency reduction, 1.25× efficiency, isolated via a single enable-bit A/B comparison.</a:t>
            </a:r>
            <a:r>
              <a:rPr sz="1300">
                <a:latin typeface="Calibri"/>
              </a:rPr>
              <a:t> Comparable order of improvement to Gu et al. [1], but attributable to one block instead of three combined changes.</a:t>
            </a:r>
            <a:endParaRPr/>
          </a:p>
        </p:txBody>
      </p:sp>
      <p:sp>
        <p:nvSpPr>
          <p:cNvPr id="429" name="Google Shape;429;p27"/>
          <p:cNvSpPr/>
          <p:nvPr/>
        </p:nvSpPr>
        <p:spPr>
          <a:xfrm>
            <a:off x="502920" y="5248656"/>
            <a:ext cx="731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7"/>
          <p:cNvSpPr txBox="1"/>
          <p:nvPr/>
        </p:nvSpPr>
        <p:spPr>
          <a:xfrm>
            <a:off x="777240" y="5248656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Buffering vs. Throughput Study</a:t>
            </a:r>
            <a:endParaRPr/>
          </a:p>
        </p:txBody>
      </p:sp>
      <p:sp>
        <p:nvSpPr>
          <p:cNvPr id="431" name="Google Shape;431;p27"/>
          <p:cNvSpPr txBox="1"/>
          <p:nvPr/>
        </p:nvSpPr>
        <p:spPr>
          <a:xfrm>
            <a:off x="4892040" y="5248656"/>
            <a:ext cx="6766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Always-ready vs. rate-limited sink experiments cleanly separate FIFO buffering headroom from steady-state completion latency.</a:t>
            </a:r>
            <a:endParaRPr/>
          </a:p>
        </p:txBody>
      </p:sp>
      <p:sp>
        <p:nvSpPr>
          <p:cNvPr id="432" name="Google Shape;432;p27"/>
          <p:cNvSpPr txBox="1"/>
          <p:nvPr/>
        </p:nvSpPr>
        <p:spPr>
          <a:xfrm>
            <a:off x="502920" y="647395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PCIe-AXI DMA Latency Characterisation &amp; Small-Packet Batching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8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8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8"/>
          <p:cNvSpPr txBox="1"/>
          <p:nvPr/>
        </p:nvSpPr>
        <p:spPr>
          <a:xfrm>
            <a:off x="502920" y="9144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9CB8E0"/>
                </a:solidFill>
                <a:latin typeface="Calibri"/>
                <a:ea typeface="Calibri"/>
                <a:cs typeface="Calibri"/>
                <a:sym typeface="Calibri"/>
              </a:rPr>
              <a:t>CHAPTER 8</a:t>
            </a:r>
            <a:endParaRPr/>
          </a:p>
        </p:txBody>
      </p:sp>
      <p:sp>
        <p:nvSpPr>
          <p:cNvPr id="440" name="Google Shape;440;p28"/>
          <p:cNvSpPr txBox="1"/>
          <p:nvPr/>
        </p:nvSpPr>
        <p:spPr>
          <a:xfrm>
            <a:off x="502920" y="3657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441" name="Google Shape;441;p28"/>
          <p:cNvSpPr txBox="1"/>
          <p:nvPr/>
        </p:nvSpPr>
        <p:spPr>
          <a:xfrm>
            <a:off x="11185855" y="6473952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13 / 15</a:t>
            </a:r>
            <a:endParaRPr/>
          </a:p>
        </p:txBody>
      </p:sp>
      <p:sp>
        <p:nvSpPr>
          <p:cNvPr id="442" name="Google Shape;442;p28"/>
          <p:cNvSpPr txBox="1"/>
          <p:nvPr/>
        </p:nvSpPr>
        <p:spPr>
          <a:xfrm>
            <a:off x="502920" y="1371600"/>
            <a:ext cx="10881300" cy="20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▸  Baseline efficiency rises from 0.90 B/cycle (64B) to 1.58 B/cycle (4KB) </a:t>
            </a:r>
            <a:r>
              <a:rPr lang="en-US" sz="16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explained, to within a constant 3-cycle residual, by the closed-form PCIe+DMA latency model.</a:t>
            </a:r>
            <a:endParaRPr/>
          </a:p>
          <a:p>
            <a:pPr indent="0" lvl="0" marL="0" marR="0" rtl="0" algn="just">
              <a:lnSpc>
                <a:spcPct val="108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▸  The batching unit reduces the latency of transferring four 64B packets from 284 to 230 cycles (19% reduction) by paying fixed overhead once instead of four times.</a:t>
            </a:r>
            <a:endParaRPr/>
          </a:p>
          <a:p>
            <a:pPr indent="0" lvl="0" marL="0" marR="0" rtl="0" algn="just">
              <a:lnSpc>
                <a:spcPct val="108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▸  FIFO depth governs buffering headroom, not steady-state single-flow latency, once a fixed-rate consumer is the bottleneck </a:t>
            </a:r>
            <a:r>
              <a:rPr lang="en-US" sz="16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an easily overlooked distinction when sizing DMA buffers from bandwidth specs alone.</a:t>
            </a:r>
            <a:endParaRPr/>
          </a:p>
        </p:txBody>
      </p:sp>
      <p:sp>
        <p:nvSpPr>
          <p:cNvPr id="443" name="Google Shape;443;p28"/>
          <p:cNvSpPr/>
          <p:nvPr/>
        </p:nvSpPr>
        <p:spPr>
          <a:xfrm>
            <a:off x="502920" y="4617720"/>
            <a:ext cx="11183112" cy="1691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8"/>
          <p:cNvSpPr txBox="1"/>
          <p:nvPr/>
        </p:nvSpPr>
        <p:spPr>
          <a:xfrm>
            <a:off x="731520" y="475488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07422"/>
                </a:solidFill>
                <a:latin typeface="Calibri"/>
                <a:ea typeface="Calibri"/>
                <a:cs typeface="Calibri"/>
                <a:sym typeface="Calibri"/>
              </a:rPr>
              <a:t>Limitations &amp; Future Work</a:t>
            </a:r>
            <a:endParaRPr/>
          </a:p>
        </p:txBody>
      </p:sp>
      <p:sp>
        <p:nvSpPr>
          <p:cNvPr id="445" name="Google Shape;445;p28"/>
          <p:cNvSpPr txBox="1"/>
          <p:nvPr/>
        </p:nvSpPr>
        <p:spPr>
          <a:xfrm>
            <a:off x="731520" y="5120640"/>
            <a:ext cx="10698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▸  Single packet in flight (no pipelined/overlapping transactions); behavioural, not synthesised, PCIe/DMA IP; no physical FPGA validation.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▸  Future: multi-packet-in-flight modelling, bursty-workload FIFO study, adaptive batching, validation against commercial IP, hardware bring-up.</a:t>
            </a:r>
            <a:endParaRPr/>
          </a:p>
        </p:txBody>
      </p:sp>
      <p:sp>
        <p:nvSpPr>
          <p:cNvPr id="446" name="Google Shape;446;p28"/>
          <p:cNvSpPr txBox="1"/>
          <p:nvPr/>
        </p:nvSpPr>
        <p:spPr>
          <a:xfrm>
            <a:off x="502920" y="647395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PCIe-AXI DMA Latency Characterisation &amp; Small-Packet Batching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9"/>
          <p:cNvSpPr/>
          <p:nvPr/>
        </p:nvSpPr>
        <p:spPr>
          <a:xfrm>
            <a:off x="0" y="0"/>
            <a:ext cx="12191700" cy="1051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9"/>
          <p:cNvSpPr/>
          <p:nvPr/>
        </p:nvSpPr>
        <p:spPr>
          <a:xfrm>
            <a:off x="0" y="1051560"/>
            <a:ext cx="121917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9"/>
          <p:cNvSpPr txBox="1"/>
          <p:nvPr/>
        </p:nvSpPr>
        <p:spPr>
          <a:xfrm>
            <a:off x="502920" y="91440"/>
            <a:ext cx="1051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9"/>
          <p:cNvSpPr txBox="1"/>
          <p:nvPr/>
        </p:nvSpPr>
        <p:spPr>
          <a:xfrm>
            <a:off x="502920" y="365760"/>
            <a:ext cx="1051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455" name="Google Shape;455;p29"/>
          <p:cNvSpPr txBox="1"/>
          <p:nvPr/>
        </p:nvSpPr>
        <p:spPr>
          <a:xfrm>
            <a:off x="11185855" y="6473952"/>
            <a:ext cx="731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15 / 15</a:t>
            </a:r>
            <a:endParaRPr/>
          </a:p>
        </p:txBody>
      </p:sp>
      <p:sp>
        <p:nvSpPr>
          <p:cNvPr id="456" name="Google Shape;456;p29"/>
          <p:cNvSpPr txBox="1"/>
          <p:nvPr/>
        </p:nvSpPr>
        <p:spPr>
          <a:xfrm>
            <a:off x="502920" y="6473952"/>
            <a:ext cx="77724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PCIe-AXI DMA Latency Characterisation &amp; Small-Packet Batching</a:t>
            </a:r>
            <a:endParaRPr b="0" i="1" sz="1000">
              <a:solidFill>
                <a:srgbClr val="5A5A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7" name="Google Shape;457;p29"/>
          <p:cNvGrpSpPr/>
          <p:nvPr/>
        </p:nvGrpSpPr>
        <p:grpSpPr>
          <a:xfrm>
            <a:off x="502920" y="1381125"/>
            <a:ext cx="5238900" cy="4667400"/>
            <a:chOff x="0" y="0"/>
            <a:chExt cx="5238900" cy="4667400"/>
          </a:xfrm>
        </p:grpSpPr>
        <p:sp>
          <p:nvSpPr>
            <p:cNvPr id="458" name="Google Shape;458;p29"/>
            <p:cNvSpPr/>
            <p:nvPr/>
          </p:nvSpPr>
          <p:spPr>
            <a:xfrm>
              <a:off x="0" y="0"/>
              <a:ext cx="5238900" cy="466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9"/>
            <p:cNvSpPr txBox="1"/>
            <p:nvPr/>
          </p:nvSpPr>
          <p:spPr>
            <a:xfrm>
              <a:off x="0" y="0"/>
              <a:ext cx="5238900" cy="46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[1]</a:t>
              </a:r>
              <a:r>
                <a:rPr b="1" lang="en-US" sz="11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1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X. Gu, L. Shao, N. Bai, G. Zhang, and X. Zhang, "A co-optimization of software and hardware for pcie-based small packet dma transfer," </a:t>
              </a:r>
              <a:r>
                <a:rPr i="1" lang="en-US" sz="11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IEEE Embedded Systems Letters</a:t>
              </a:r>
              <a:r>
                <a:rPr lang="en-US" sz="11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vol. 17, no. 1, pp. 6–9, 2025.</a:t>
              </a:r>
              <a:endParaRPr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just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[2]</a:t>
              </a:r>
              <a:r>
                <a:rPr b="1" lang="en-US" sz="11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1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C. Snmez, M. Shahawy, C. C. Belentepe, and P. Ienne, "Fleximem: Flexible shared virtual memory for pcie-attached fpgas," in </a:t>
              </a:r>
              <a:r>
                <a:rPr i="1" lang="en-US" sz="11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2024 34th International Conference on Field-Programmable Logic and Applications (FPL)</a:t>
              </a:r>
              <a:r>
                <a:rPr lang="en-US" sz="11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pp. 78–86, IEEE, 2024.</a:t>
              </a:r>
              <a:endParaRPr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just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[3] </a:t>
              </a:r>
              <a:r>
                <a:rPr lang="en-US" sz="11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S. Bandara, A. Sanaullah, Z. Tahir, U. Drepper, and M. C. Herbordt, "Performance evaluation of virtio device drivers for host-fpga pcie communication," in </a:t>
              </a:r>
              <a:r>
                <a:rPr i="1" lang="en-US" sz="11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2024 IEEE International Parallel and Distributed Processing Symposium Workshops (IPDPSW)</a:t>
              </a:r>
              <a:r>
                <a:rPr lang="en-US" sz="11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pp. 169–176, IEEE, 2024.</a:t>
              </a:r>
              <a:endParaRPr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just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[4]</a:t>
              </a:r>
              <a:r>
                <a:rPr b="1" lang="en-US" sz="11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1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M. S. Park, S. Y. Kim, and S. W. Kim, "Low overhead pim-to-pim communication on pcie-based multi-pim platforms for executing large-scale ai models," in </a:t>
              </a:r>
              <a:r>
                <a:rPr i="1" lang="en-US" sz="11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2024 International Conference on Electronics, Information, and Communication (ICEIC)</a:t>
              </a:r>
              <a:r>
                <a:rPr lang="en-US" sz="11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pp. 1–4, IEEE, 2024.</a:t>
              </a:r>
              <a:endParaRPr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0" name="Google Shape;460;p29"/>
          <p:cNvGrpSpPr/>
          <p:nvPr/>
        </p:nvGrpSpPr>
        <p:grpSpPr>
          <a:xfrm>
            <a:off x="6191250" y="1381125"/>
            <a:ext cx="5496000" cy="4667400"/>
            <a:chOff x="0" y="0"/>
            <a:chExt cx="5496000" cy="4667400"/>
          </a:xfrm>
        </p:grpSpPr>
        <p:sp>
          <p:nvSpPr>
            <p:cNvPr id="461" name="Google Shape;461;p29"/>
            <p:cNvSpPr/>
            <p:nvPr/>
          </p:nvSpPr>
          <p:spPr>
            <a:xfrm>
              <a:off x="0" y="0"/>
              <a:ext cx="5496000" cy="466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9"/>
            <p:cNvSpPr txBox="1"/>
            <p:nvPr/>
          </p:nvSpPr>
          <p:spPr>
            <a:xfrm>
              <a:off x="0" y="0"/>
              <a:ext cx="5496000" cy="46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[5]</a:t>
              </a:r>
              <a:r>
                <a:rPr b="1" lang="en-US" sz="11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1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J. Zhang, H. Huang, X. Chen, X. Li, J. Zhao, M. Liu, and Z. Wang, "Rpcnic: Enabling efficient datacenter rpc offloading on pcie-attached smartnics," in </a:t>
              </a:r>
              <a:r>
                <a:rPr i="1" lang="en-US" sz="11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2025 IEEE International Symposium on High-Performance Computer Architecture (HPCA)</a:t>
              </a:r>
              <a:r>
                <a:rPr lang="en-US" sz="11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pp. 1379–1394, IEEE, 2025.</a:t>
              </a:r>
              <a:endParaRPr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just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[6]</a:t>
              </a:r>
              <a:r>
                <a:rPr b="1" lang="en-US" sz="11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1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D. Gupta, A. Purohit, and R. Naresh, "Fpga for high-frequency trading: Reducing latency in financial systems," in </a:t>
              </a:r>
              <a:r>
                <a:rPr i="1" lang="en-US" sz="11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2024 3rd International Conference on Automation, Computing and Renewable Systems (ICACRS)</a:t>
              </a:r>
              <a:r>
                <a:rPr lang="en-US" sz="11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pp. 19–25, IEEE, 2024.</a:t>
              </a:r>
              <a:endParaRPr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just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[7]</a:t>
              </a:r>
              <a:r>
                <a:rPr b="1" lang="en-US" sz="11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1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H. Kavianipour and C. Bohm, "High performance fpga-based scatter/gather dma interface for pcie," in </a:t>
              </a:r>
              <a:r>
                <a:rPr i="1" lang="en-US" sz="11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2012 IEEE Nuclear Science Symposium and Medical Imaging Conference (NSS/MIC)</a:t>
              </a:r>
              <a:r>
                <a:rPr lang="en-US" sz="11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pp. 1517–1520, IEEE, 2012.</a:t>
              </a:r>
              <a:endParaRPr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