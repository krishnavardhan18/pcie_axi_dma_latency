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/>
            </a:pPr>
            <a:r>
              <a:t>Efficiency rises monotonically with packet size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Efficiency (B/cycle)</c:v>
                </c:pt>
              </c:strCache>
            </c:strRef>
          </c:tx>
          <c:spPr>
            <a:solidFill>
              <a:srgbClr val="2E86DE"/>
            </a:solidFill>
          </c:spPr>
          <c:cat>
            <c:strRef>
              <c:f>Sheet1!$A$2:$A$7</c:f>
              <c:strCache>
                <c:ptCount val="6"/>
                <c:pt idx="0">
                  <c:v>64</c:v>
                </c:pt>
                <c:pt idx="1">
                  <c:v>128</c:v>
                </c:pt>
                <c:pt idx="2">
                  <c:v>256</c:v>
                </c:pt>
                <c:pt idx="3">
                  <c:v>512</c:v>
                </c:pt>
                <c:pt idx="4">
                  <c:v>1024</c:v>
                </c:pt>
                <c:pt idx="5">
                  <c:v>4096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</c:v>
                </c:pt>
                <c:pt idx="1">
                  <c:v>1.15</c:v>
                </c:pt>
                <c:pt idx="2">
                  <c:v>1.34</c:v>
                </c:pt>
                <c:pt idx="3">
                  <c:v>1.46</c:v>
                </c:pt>
                <c:pt idx="4">
                  <c:v>1.53</c:v>
                </c:pt>
                <c:pt idx="5">
                  <c:v>1.58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/>
                </a:pPr>
                <a:r>
                  <a:t>Packet size (bytes)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pPr>
                  <a:defRPr sz="1100"/>
                </a:pPr>
                <a:r>
                  <a:t>Bytes / cycle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/>
            </a:pPr>
            <a:r>
              <a:t>Batching: 19% latency reduction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Total latency (cycles)</c:v>
                </c:pt>
              </c:strCache>
            </c:strRef>
          </c:tx>
          <c:spPr>
            <a:solidFill>
              <a:srgbClr val="E07422"/>
            </a:solidFill>
          </c:spPr>
          <c:cat>
            <c:strRef>
              <c:f>Sheet1!$A$2:$A$3</c:f>
              <c:strCache>
                <c:ptCount val="2"/>
                <c:pt idx="0">
                  <c:v>4×64B
independent</c:v>
                </c:pt>
                <c:pt idx="1">
                  <c:v>1×256B
batched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284</c:v>
                </c:pt>
                <c:pt idx="1">
                  <c:v>230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89320"/>
            <a:ext cx="12191695" cy="18288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9CB8E0"/>
                </a:solidFill>
                <a:latin typeface="Calibri"/>
              </a:rPr>
              <a:t>M.TECH THESIS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FFFFF"/>
                </a:solidFill>
                <a:latin typeface="Calibri"/>
              </a:rPr>
              <a:t>Latency Characterisation and Small-Packet
Batching in a PCIe-AXI DMA Streaming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1">
                <a:solidFill>
                  <a:srgbClr val="C9D6E8"/>
                </a:solidFill>
                <a:latin typeface="Calibri"/>
              </a:rPr>
              <a:t>A cycle-accurate SystemVerilog RTL study of PCIe + AXI-Stream DMA latency,
validated against a closed-form analytical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892040"/>
            <a:ext cx="4206240" cy="1524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Roll No. 2024OVL1079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D6E8"/>
                </a:solidFill>
                <a:latin typeface="Calibri"/>
              </a:rPr>
              <a:t>CEP Department, Indian Institute of Technology Jammu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760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D6E8"/>
                </a:solidFill>
                <a:latin typeface="Calibri"/>
              </a:rPr>
              <a:t>Supervisor: [Supervisor Name], Professor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CB8E0"/>
                </a:solidFill>
                <a:latin typeface="Calibri"/>
              </a:rPr>
              <a:t>CHAPTER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5A5A"/>
                </a:solidFill>
                <a:latin typeface="Calibri"/>
              </a:rPr>
              <a:t>2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▸  PCIe is the standard interconnect for attaching high-performance peripherals (NICs, SSD controllers, accelerators, FPGA devices) to a host processor.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▸  Bulk data movement uses DMA engines rather than processor-driven I/O, so large transfers don't consume CPU cycles per word moved.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▸  On the FPGA/SoC fabric side, DMA engines are built around AMBA AXI — specifically AXI4-Stream for back-pressure-aware data streams to downstream logic.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▸  A host ↔ device transfer crosses two protocol domains:</a:t>
            </a:r>
          </a:p>
          <a:p>
            <a:pPr lvl="1">
              <a:lnSpc>
                <a:spcPct val="108000"/>
              </a:lnSpc>
              <a:spcAft>
                <a:spcPts val="12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–  PCIe side: data in Transaction Layer Packets (TLPs) — fixed header, credit-based flow control, link-level ACK round trip</a:t>
            </a:r>
          </a:p>
          <a:p>
            <a:pPr lvl="1">
              <a:lnSpc>
                <a:spcPct val="108000"/>
              </a:lnSpc>
              <a:spcAft>
                <a:spcPts val="12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–  AXI side: a DMA engine translates memory-mapped bursts ↔ AXI4-Stream beats, after fetching a descriptor (source, destination, length)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700" b="1">
                <a:solidFill>
                  <a:srgbClr val="222222"/>
                </a:solidFill>
                <a:latin typeface="Calibri"/>
              </a:rPr>
              <a:t>▸  Both TLP framing and descriptor fetch impose a processing cost largely independent of transfer size — negligible for large transfers, but dominant for small ones.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A5A5A"/>
                </a:solidFill>
                <a:latin typeface="Calibri"/>
              </a:rPr>
              <a:t>PCIe-AXI DMA Latency Characterisation &amp; Small-Packet Batching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CB8E0"/>
                </a:solidFill>
                <a:latin typeface="Calibri"/>
              </a:rPr>
              <a:t>CHAPTER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5A5A"/>
                </a:solidFill>
                <a:latin typeface="Calibri"/>
              </a:rPr>
              <a:t>3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6492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▸  Vendor IP documentation specifies functional behaviour and peak bandwidth, but rarely quantifies latency as a function of packet size.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▸  Architects are left to over-provision buffering or discover the fixed-overhead penalty only after silicon/FPGA bring-up.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▸  Neugebauer et al. (SIGCOMM 2018) confirm empirically that small-transfer PCIe performance is dominated by per-descriptor / per-TLP overhead — but as a black-box measurement on commodity NIC/host systems, not an instrumented, re-simulatable RTL model.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▸  Interrupt coalescing (Mogul &amp; Ramakrishnan, 1997) and NIC interrupt-moderation timers show that amortising fixed per-event cost over batches is a proven general technique — but its direct application inside an RTL DMA datapath is unaddressed.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69480" y="1371600"/>
            <a:ext cx="4434840" cy="4480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79" y="155448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Calibri"/>
              </a:rPr>
              <a:t>This gap motivates the thesis: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2057400"/>
            <a:ext cx="4023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50" b="0">
                <a:solidFill>
                  <a:srgbClr val="222222"/>
                </a:solidFill>
                <a:latin typeface="Calibri"/>
              </a:rPr>
              <a:t>▸  Build a cycle-accurate, parameterised model of a PCIe-AXI DMA pipeline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50" b="0">
                <a:solidFill>
                  <a:srgbClr val="222222"/>
                </a:solidFill>
                <a:latin typeface="Calibri"/>
              </a:rPr>
              <a:t>▸  Measure — not estimate — how latency &amp; per-byte efficiency vary with packet size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50" b="0">
                <a:solidFill>
                  <a:srgbClr val="222222"/>
                </a:solidFill>
                <a:latin typeface="Calibri"/>
              </a:rPr>
              <a:t>▸  Design, implement &amp; evaluate a packet-batching mitigation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50" b="0">
                <a:solidFill>
                  <a:srgbClr val="222222"/>
                </a:solidFill>
                <a:latin typeface="Calibri"/>
              </a:rPr>
              <a:t>▸  ...all within a synthesisable, re-runnable RTL testbed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A5A5A"/>
                </a:solidFill>
                <a:latin typeface="Calibri"/>
              </a:rPr>
              <a:t>PCIe-AXI DMA Latency Characterisation &amp; Small-Packet Batching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CB8E0"/>
                </a:solidFill>
                <a:latin typeface="Calibri"/>
              </a:rPr>
              <a:t>CHAPTER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Literature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5A5A"/>
                </a:solidFill>
                <a:latin typeface="Calibri"/>
              </a:rPr>
              <a:t>4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2724912" cy="50292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272491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PCIe Performance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74519"/>
            <a:ext cx="2724912" cy="2788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993392"/>
            <a:ext cx="250545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22222"/>
                </a:solidFill>
                <a:latin typeface="Calibri"/>
              </a:rPr>
              <a:t>Budruk et al. detail TLP header/credit-flow overheads.
Neugebauer et al. (2018) show small-DMA throughput is dominated by transaction count — but as a black-box host measurement.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4992" y="1325880"/>
            <a:ext cx="2724912" cy="502920"/>
          </a:xfrm>
          <a:prstGeom prst="rect">
            <a:avLst/>
          </a:prstGeom>
          <a:solidFill>
            <a:srgbClr val="E07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4992" y="1325880"/>
            <a:ext cx="272491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AXI-Based DMA IP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64992" y="1874519"/>
            <a:ext cx="2724912" cy="2788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1993392"/>
            <a:ext cx="250545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22222"/>
                </a:solidFill>
                <a:latin typeface="Calibri"/>
              </a:rPr>
              <a:t>AMBA AXI4 / AXI4-Stream specs (Arm) define the fabric-side protocol. AMD-Xilinx AXI DMA &amp; UltraScale+ PCIe IP guides document descriptor-ring operation but treat fetch latency as an implementation detail.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7064" y="1325880"/>
            <a:ext cx="2724912" cy="502920"/>
          </a:xfrm>
          <a:prstGeom prst="rect">
            <a:avLst/>
          </a:prstGeom>
          <a:solidFill>
            <a:srgbClr val="27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7064" y="1325880"/>
            <a:ext cx="272491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Overhead Amortisation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27064" y="1874519"/>
            <a:ext cx="2724912" cy="2788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1993392"/>
            <a:ext cx="250545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22222"/>
                </a:solidFill>
                <a:latin typeface="Calibri"/>
              </a:rPr>
              <a:t>Mogul &amp; Ramakrishnan (1997): interrupt coalescing avoids receive livelock. Intel NIC interrupt-moderation timers apply the same idea in hardware — at the interrupt level, not the RTL transfer level.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89136" y="1325880"/>
            <a:ext cx="2724912" cy="50292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89136" y="1325880"/>
            <a:ext cx="272491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Latency Modeling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89136" y="1874519"/>
            <a:ext cx="2724912" cy="2788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98864" y="1993392"/>
            <a:ext cx="250545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22222"/>
                </a:solidFill>
                <a:latin typeface="Calibri"/>
              </a:rPr>
              <a:t>Kleinrock's queueing theory formalises fixed-plus-proportional service time — but doesn't validate whether a real RTL implementation actually behaves this way.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892040"/>
            <a:ext cx="11183112" cy="1371600"/>
          </a:xfrm>
          <a:prstGeom prst="rect">
            <a:avLst/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956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07422"/>
                </a:solidFill>
                <a:latin typeface="Calibri"/>
              </a:rPr>
              <a:t>Research Gap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285232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▸  No open, per-stage, packet-size-parameterised latency model  •  No RTL-level application of batching to PCIe-AXI DMA transfers  •  No validated link between the analytical queueing model and cycle-accurate hardware measurement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A5A5A"/>
                </a:solidFill>
                <a:latin typeface="Calibri"/>
              </a:rPr>
              <a:t>PCIe-AXI DMA Latency Characterisation &amp; Small-Packet Batching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CB8E0"/>
                </a:solidFill>
                <a:latin typeface="Calibri"/>
              </a:rPr>
              <a:t>CHAPTER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Objectives of the 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5A5A"/>
                </a:solidFill>
                <a:latin typeface="Calibri"/>
              </a:rPr>
              <a:t>5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502920" cy="77724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02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44475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0" i="0">
                <a:solidFill>
                  <a:srgbClr val="222222"/>
                </a:solidFill>
                <a:latin typeface="Calibri"/>
              </a:rPr>
              <a:t>Develop an analytical latency model for a PCIe transaction layer and a descriptor-based DMA engine (fixed base term + size-proportional term).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350008"/>
            <a:ext cx="502920" cy="77724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350008"/>
            <a:ext cx="502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37744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0" i="0">
                <a:solidFill>
                  <a:srgbClr val="222222"/>
                </a:solidFill>
                <a:latin typeface="Calibri"/>
              </a:rPr>
              <a:t>Design &amp; implement, in synthesisable SystemVerilog, a 7-stage behavioural pipeline that reproduces this latency behaviour cycle-accurately.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282696"/>
            <a:ext cx="502920" cy="77724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282696"/>
            <a:ext cx="502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310128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0" i="0">
                <a:solidFill>
                  <a:srgbClr val="222222"/>
                </a:solidFill>
                <a:latin typeface="Calibri"/>
              </a:rPr>
              <a:t>Build a directed testbench exercising the pipeline across 64 B–4 KB packet sizes and validate hardware-measured latency against the analytical model.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215384"/>
            <a:ext cx="502920" cy="77724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215384"/>
            <a:ext cx="502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242816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0" i="0">
                <a:solidFill>
                  <a:srgbClr val="222222"/>
                </a:solidFill>
                <a:latin typeface="Calibri"/>
              </a:rPr>
              <a:t>Design a small-packet batching mechanism that coalesces packets into one larger AXI-Stream frame, and quantify its latency/efficiency improvement.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5148072"/>
            <a:ext cx="502920" cy="77724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5148072"/>
            <a:ext cx="502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5175504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0" i="0">
                <a:solidFill>
                  <a:srgbClr val="222222"/>
                </a:solidFill>
                <a:latin typeface="Calibri"/>
              </a:rPr>
              <a:t>Characterise AXI-Stream FIFO depth's effect on buffering headroom and back-pressure, distinguishing it from steady-state throughput.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A5A5A"/>
                </a:solidFill>
                <a:latin typeface="Calibri"/>
              </a:rPr>
              <a:t>PCIe-AXI DMA Latency Characterisation &amp; Small-Packet Batching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CB8E0"/>
                </a:solidFill>
                <a:latin typeface="Calibri"/>
              </a:rPr>
              <a:t>CHAPTER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Methodology — Analytical Latency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5A5A"/>
                </a:solidFill>
                <a:latin typeface="Calibri"/>
              </a:rPr>
              <a:t>6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222222"/>
                </a:solidFill>
                <a:latin typeface="Calibri"/>
              </a:rPr>
              <a:t>Every packet pays a fixed, size-independent cost plus a term proportional to its size, at each stage: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965960"/>
            <a:ext cx="11183112" cy="1051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39112"/>
            <a:ext cx="23774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1B2A4A"/>
                </a:solidFill>
                <a:latin typeface="Calibri"/>
              </a:rPr>
              <a:t>PCIe delay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039112"/>
            <a:ext cx="4023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 i="0">
                <a:solidFill>
                  <a:srgbClr val="2E86DE"/>
                </a:solidFill>
                <a:latin typeface="Consolas"/>
              </a:rPr>
              <a:t>L_PCIe(S) = T_base + ⌈S/4⌉ · T_dw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2039112"/>
            <a:ext cx="4206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1">
                <a:solidFill>
                  <a:srgbClr val="5A5A5A"/>
                </a:solidFill>
                <a:latin typeface="Calibri"/>
              </a:rPr>
              <a:t>TLP header assembly + credit round trip, plus per-DWORD transfer time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154680"/>
            <a:ext cx="11183112" cy="1051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227832"/>
            <a:ext cx="23774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1B2A4A"/>
                </a:solidFill>
                <a:latin typeface="Calibri"/>
              </a:rPr>
              <a:t>DMA delay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3227832"/>
            <a:ext cx="4023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 i="0">
                <a:solidFill>
                  <a:srgbClr val="2E86DE"/>
                </a:solidFill>
                <a:latin typeface="Consolas"/>
              </a:rPr>
              <a:t>L_DMA(S) = T_setup + ⌈S/W⌉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3227832"/>
            <a:ext cx="4206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1">
                <a:solidFill>
                  <a:srgbClr val="5A5A5A"/>
                </a:solidFill>
                <a:latin typeface="Calibri"/>
              </a:rPr>
              <a:t>Descriptor fetch/parse overhead, plus payload / datapath-width beats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343400"/>
            <a:ext cx="11183112" cy="1051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416552"/>
            <a:ext cx="23774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1B2A4A"/>
                </a:solidFill>
                <a:latin typeface="Calibri"/>
              </a:rPr>
              <a:t>Total latency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4416552"/>
            <a:ext cx="4023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 i="0">
                <a:solidFill>
                  <a:srgbClr val="2E86DE"/>
                </a:solidFill>
                <a:latin typeface="Consolas"/>
              </a:rPr>
              <a:t>L_tot(S) = L_PCIe(S) + L_DMA(S) + L_other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4416552"/>
            <a:ext cx="4206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1">
                <a:solidFill>
                  <a:srgbClr val="5A5A5A"/>
                </a:solidFill>
                <a:latin typeface="Calibri"/>
              </a:rPr>
              <a:t>L_other = small fixed residual from pass-through pipeline stages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62356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1">
                <a:solidFill>
                  <a:srgbClr val="222222"/>
                </a:solidFill>
                <a:latin typeface="Calibri"/>
              </a:rPr>
              <a:t>Efficiency η(S) = S / L_tot(S) rises monotonically with S — fixed overheads are amortised over more bytes. → Coalescing N packets into one frame of size N·S pays T_base and T_setup once instead of N times: L_tot(N·S) &lt; N·L_tot(S).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A5A5A"/>
                </a:solidFill>
                <a:latin typeface="Calibri"/>
              </a:rPr>
              <a:t>PCIe-AXI DMA Latency Characterisation &amp; Small-Packet Batching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CB8E0"/>
                </a:solidFill>
                <a:latin typeface="Calibri"/>
              </a:rPr>
              <a:t>CHAPTER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Methodology — Pipeline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5A5A"/>
                </a:solidFill>
                <a:latin typeface="Calibri"/>
              </a:rPr>
              <a:t>7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222222"/>
                </a:solidFill>
                <a:latin typeface="Calibri"/>
              </a:rPr>
              <a:t>Seven AXI4-Stream-connected stages; every stage independently implements tvalid/tready so back-pressure propagates correctly end to end.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48840"/>
            <a:ext cx="1417320" cy="91440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148840"/>
            <a:ext cx="14173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Packet
Generator
(TB)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920240" y="2468880"/>
            <a:ext cx="210312" cy="274320"/>
          </a:xfrm>
          <a:prstGeom prst="rightArrow">
            <a:avLst/>
          </a:prstGeom>
          <a:solidFill>
            <a:srgbClr val="B0B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30552" y="2148840"/>
            <a:ext cx="1417320" cy="9144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30552" y="2148840"/>
            <a:ext cx="14173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pcie_model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547872" y="2468880"/>
            <a:ext cx="210312" cy="274320"/>
          </a:xfrm>
          <a:prstGeom prst="rightArrow">
            <a:avLst/>
          </a:prstGeom>
          <a:solidFill>
            <a:srgbClr val="B0B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58184" y="2148840"/>
            <a:ext cx="1417320" cy="914400"/>
          </a:xfrm>
          <a:prstGeom prst="rect">
            <a:avLst/>
          </a:prstGeom>
          <a:solidFill>
            <a:srgbClr val="E07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58184" y="2148840"/>
            <a:ext cx="14173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dma_model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175504" y="2468880"/>
            <a:ext cx="210312" cy="274320"/>
          </a:xfrm>
          <a:prstGeom prst="rightArrow">
            <a:avLst/>
          </a:prstGeom>
          <a:solidFill>
            <a:srgbClr val="B0B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85816" y="2148840"/>
            <a:ext cx="1417320" cy="914400"/>
          </a:xfrm>
          <a:prstGeom prst="rect">
            <a:avLst/>
          </a:prstGeom>
          <a:solidFill>
            <a:srgbClr val="27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85816" y="2148840"/>
            <a:ext cx="14173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axi_mm2s
_adapter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803136" y="2468880"/>
            <a:ext cx="210312" cy="274320"/>
          </a:xfrm>
          <a:prstGeom prst="rightArrow">
            <a:avLst/>
          </a:prstGeom>
          <a:solidFill>
            <a:srgbClr val="B0B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013448" y="2148840"/>
            <a:ext cx="1417320" cy="914400"/>
          </a:xfrm>
          <a:prstGeom prst="rect">
            <a:avLst/>
          </a:prstGeom>
          <a:solidFill>
            <a:srgbClr val="27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13448" y="2148840"/>
            <a:ext cx="14173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axis_fifo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430768" y="2468880"/>
            <a:ext cx="210312" cy="274320"/>
          </a:xfrm>
          <a:prstGeom prst="rightArrow">
            <a:avLst/>
          </a:prstGeom>
          <a:solidFill>
            <a:srgbClr val="B0B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41080" y="2148840"/>
            <a:ext cx="1417320" cy="91440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41080" y="2148840"/>
            <a:ext cx="14173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batching
_unit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058400" y="2468880"/>
            <a:ext cx="210312" cy="274320"/>
          </a:xfrm>
          <a:prstGeom prst="rightArrow">
            <a:avLst/>
          </a:prstGeom>
          <a:solidFill>
            <a:srgbClr val="B0B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268712" y="2148840"/>
            <a:ext cx="1417320" cy="91440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68712" y="2148840"/>
            <a:ext cx="14173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stream
_sink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3291840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1">
                <a:solidFill>
                  <a:srgbClr val="5A5A5A"/>
                </a:solidFill>
                <a:latin typeface="Calibri"/>
              </a:rPr>
              <a:t>A hardware latency_monitor observes packet-injection and stream_sink completion events directly, timestamping in RTL.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3794760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Calibri"/>
              </a:rPr>
              <a:t>pcie_model / dma_model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29000" y="379476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22222"/>
                </a:solidFill>
                <a:latin typeface="Calibri"/>
              </a:rPr>
              <a:t>3-state FSMs (recv → delay/setup → send); buffer full packet, hold for computed delay, replay beats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416552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Calibri"/>
              </a:rPr>
              <a:t>axis_fifo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9000" y="4416552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22222"/>
                </a:solidFill>
                <a:latin typeface="Calibri"/>
              </a:rPr>
              <a:t>FWFT circular buffer, configurable depth; combinational read → zero latency when empty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038344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Calibri"/>
              </a:rPr>
              <a:t>batching_unit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29000" y="5038344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22222"/>
                </a:solidFill>
                <a:latin typeface="Calibri"/>
              </a:rPr>
              <a:t>Zero-buffering pass-through; suppresses inner tlast, merges N packets into 1 frame (BATCH_COUNT / timeout)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5660136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Calibri"/>
              </a:rPr>
              <a:t>latency_monitor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29000" y="5660136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22222"/>
                </a:solidFill>
                <a:latin typeface="Calibri"/>
              </a:rPr>
              <a:t>In-design hardware perf-counter; tags injection → completion, reports latency/efficiency/throughput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73952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A5A5A"/>
                </a:solidFill>
                <a:latin typeface="Calibri"/>
              </a:rPr>
              <a:t>PCIe-AXI DMA Latency Characterisation &amp; Small-Packet Batching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CB8E0"/>
                </a:solidFill>
                <a:latin typeface="Calibri"/>
              </a:rPr>
              <a:t>CHAPTER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Work Done — Design &amp; Implementation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5A5A"/>
                </a:solidFill>
                <a:latin typeface="Calibri"/>
              </a:rPr>
              <a:t>8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5486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450" b="0">
                <a:solidFill>
                  <a:srgbClr val="222222"/>
                </a:solidFill>
                <a:latin typeface="Calibri"/>
              </a:rPr>
              <a:t>▸  Incremental, stage-by-stage build against stub modules — kept the design always elaborating, and made each stage's latency independently attributable.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450" b="0">
                <a:solidFill>
                  <a:srgbClr val="222222"/>
                </a:solidFill>
                <a:latin typeface="Calibri"/>
              </a:rPr>
              <a:t>▸  pcie_model / dma_model FSMs implement Eq. (1)/(2) exactly: S_RECV → S_DELAY/S_SETUP → S_SEND.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450" b="0">
                <a:solidFill>
                  <a:srgbClr val="222222"/>
                </a:solidFill>
                <a:latin typeface="Calibri"/>
              </a:rPr>
              <a:t>▸  Batching algorithm: per-beat decision logic — pass tdata/tkeep through unchanged, accumulate byte count, merge tlast on BATCH_COUNT or timeout.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450" b="0">
                <a:solidFill>
                  <a:srgbClr val="222222"/>
                </a:solidFill>
                <a:latin typeface="Calibri"/>
              </a:rPr>
              <a:t>▸  Single enable bit (BATCHING_EN) switches between bypass and active — same RTL/testbench, clean A/B comparison.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371600"/>
            <a:ext cx="5440680" cy="4480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508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07422"/>
                </a:solidFill>
                <a:latin typeface="Calibri"/>
              </a:rPr>
              <a:t>Key implementation fix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920240"/>
            <a:ext cx="5029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Hardware latency_monitor measures injection → completion directly in RTL on the same clock domain. An earlier testbench-side measurement sampled its reference point one cycle early, producing a constant +2-cycle discrepancy — fixed by reading latency_out directly from hardware rather than recomputing in software.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97763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07422"/>
                </a:solidFill>
                <a:latin typeface="Calibri"/>
              </a:rPr>
              <a:t>Batching-specific correctness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43434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Efficiency/throughput computed from stream_sink's batch-aware done_size (true completed-frame size), not the per-injection size_store — an earlier version understated batch efficiency by 4× before this fix.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A5A5A"/>
                </a:solidFill>
                <a:latin typeface="Calibri"/>
              </a:rPr>
              <a:t>PCIe-AXI DMA Latency Characterisation &amp; Small-Packet Batching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CB8E0"/>
                </a:solidFill>
                <a:latin typeface="Calibri"/>
              </a:rPr>
              <a:t>CHAPTER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Work Done — Experimental Setup &amp;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5A5A"/>
                </a:solidFill>
                <a:latin typeface="Calibri"/>
              </a:rPr>
              <a:t>9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22222"/>
                </a:solidFill>
                <a:latin typeface="Calibri"/>
              </a:rPr>
              <a:t>All RTL compiled, elaborated &amp; simulated with AMD-Xilinx Vivado xsim, driven via a reproducible Makefile flow.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828800"/>
          <a:ext cx="11183112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103120"/>
                <a:gridCol w="7891272"/>
              </a:tblGrid>
              <a:tr h="40005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Scenario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>
                        <a:defRPr sz="125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50"/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50"/>
                      </a:pPr>
                      <a:r>
                        <a:t>Batching disabled; 6 packet sizes (64B–4KB) injected in turn, latency measured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>
                        <a:defRPr sz="125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50"/>
                      </a:pPr>
                      <a:r>
                        <a:t>Batching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50"/>
                      </a:pPr>
                      <a:r>
                        <a:t>BATCH_COUNT (4) × 64B packets injected back-to-back → latency of coalesced frame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>
                        <a:defRPr sz="125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50"/>
                      </a:pPr>
                      <a:r>
                        <a:t>FIFO sweep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50"/>
                      </a:pPr>
                      <a:r>
                        <a:t>Baseline loop re-run at FIFO_DEPTH ∈ {16,64,256}, with/without rate-limited sink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3703320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2A4A"/>
                </a:solidFill>
                <a:latin typeface="Calibri"/>
              </a:rPr>
              <a:t>Verification milestones (selected)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069080"/>
            <a:ext cx="1118311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▸  send_packet handshake bug: tready polled in the wrong simulation region, causing false hangs on the final beat — fixed with a do...while construct.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▸  stream_sink stall-model bug: pkt_done qualified only on (tvalid &amp;&amp; tlast), quadrupling reported pkt_count under back-pressure — fixed by gating on (tvalid &amp;&amp; tready &amp;&amp; tlast).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▸  fifo_occupancy width bug: port sized from package default instead of instance parameter, silently truncating occupancy for FIFO_DEPTH=256 — fixed.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222222"/>
                </a:solidFill>
                <a:latin typeface="Calibri"/>
              </a:rPr>
              <a:t>▸  8 regression runs completed with zero timeouts, assertion failures, or watchdog firings.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A5A5A"/>
                </a:solidFill>
                <a:latin typeface="Calibri"/>
              </a:rPr>
              <a:t>PCIe-AXI DMA Latency Characterisation &amp; Small-Packet Batching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CB8E0"/>
                </a:solidFill>
                <a:latin typeface="Calibri"/>
              </a:rPr>
              <a:t>CHAPTER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Research Outcome — Baseline Latency &amp; Efficiency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5A5A"/>
                </a:solidFill>
                <a:latin typeface="Calibri"/>
              </a:rPr>
              <a:t>10 / 15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02920" y="1417320"/>
          <a:ext cx="63093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086600" y="1417320"/>
            <a:ext cx="2194560" cy="12344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86600" y="1527048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07422"/>
                </a:solidFill>
                <a:latin typeface="Calibri"/>
              </a:rPr>
              <a:t>0.90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21945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5A5A5A"/>
                </a:solidFill>
                <a:latin typeface="Calibri"/>
              </a:rPr>
              <a:t>B/cycle @ 64B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64040" y="1417320"/>
            <a:ext cx="2194560" cy="12344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64040" y="1527048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2E86DE"/>
                </a:solidFill>
                <a:latin typeface="Calibri"/>
              </a:rPr>
              <a:t>1.58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55480" y="21945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5A5A5A"/>
                </a:solidFill>
                <a:latin typeface="Calibri"/>
              </a:rPr>
              <a:t>B/cycle @ 4KB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86600" y="2834640"/>
            <a:ext cx="2194560" cy="12344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86600" y="2944368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279F6E"/>
                </a:solidFill>
                <a:latin typeface="Calibri"/>
              </a:rPr>
              <a:t>76%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36118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5A5A5A"/>
                </a:solidFill>
                <a:latin typeface="Calibri"/>
              </a:rPr>
              <a:t>efficiency gain
64B → 4KB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64040" y="2834640"/>
            <a:ext cx="2194560" cy="12344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64040" y="2944368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8E44AD"/>
                </a:solidFill>
                <a:latin typeface="Calibri"/>
              </a:rPr>
              <a:t>±3 cyc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55480" y="36118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5A5A5A"/>
                </a:solidFill>
                <a:latin typeface="Calibri"/>
              </a:rPr>
              <a:t>model vs. HW
residual (all sizes)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429768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22222"/>
                </a:solidFill>
                <a:latin typeface="Calibri"/>
              </a:rPr>
              <a:t>Per-stage breakdown (PCIe + DMA + Other) matches hardware-measured total to within a constant 3-cycle residual across a 64× range of packet sizes — confirming the closed-form model.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A5A5A"/>
                </a:solidFill>
                <a:latin typeface="Calibri"/>
              </a:rPr>
              <a:t>PCIe-AXI DMA Latency Characterisation &amp; Small-Packet Batching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CB8E0"/>
                </a:solidFill>
                <a:latin typeface="Calibri"/>
              </a:rPr>
              <a:t>CHAPTER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Research Outcome — Batching &amp; FIFO Depth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5A5A"/>
                </a:solidFill>
                <a:latin typeface="Calibri"/>
              </a:rPr>
              <a:t>11 / 15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02920" y="1371600"/>
          <a:ext cx="493776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75488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22222"/>
                </a:solidFill>
                <a:latin typeface="Calibri"/>
              </a:rPr>
              <a:t>230 = 71 (first packet) + 3×53 (inter-packet gaps). Fixed PCIe/DMA overhead paid once per 256B frame instead of 4× → 1.25× efficiency improvement, using the same RTL/testbench with a single enable bit.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13716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2A4A"/>
                </a:solidFill>
                <a:latin typeface="Calibri"/>
              </a:rPr>
              <a:t>FIFO depth under a rate-limited (stalled) sink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60720" y="1828800"/>
          <a:ext cx="5943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331720"/>
                <a:gridCol w="2331720"/>
              </a:tblGrid>
              <a:tr h="391885"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Size (B)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Latency (cyc)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Peak occ. D=16/64/256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150"/>
                      </a:pPr>
                      <a:r>
                        <a:t>64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/>
                      </a:pPr>
                      <a:r>
                        <a:t>94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/>
                      </a:pPr>
                      <a:r>
                        <a:t>6 / 6 / 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150"/>
                      </a:pPr>
                      <a:r>
                        <a:t>128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/>
                      </a:pPr>
                      <a:r>
                        <a:t>157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/>
                      </a:pPr>
                      <a:r>
                        <a:t>12 / 12 / 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150"/>
                      </a:pPr>
                      <a:r>
                        <a:t>256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/>
                      </a:pPr>
                      <a:r>
                        <a:t>285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/>
                      </a:pPr>
                      <a:r>
                        <a:t>16* / 24 / 24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150"/>
                      </a:pPr>
                      <a:r>
                        <a:t>512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/>
                      </a:pPr>
                      <a:r>
                        <a:t>541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/>
                      </a:pPr>
                      <a:r>
                        <a:t>16* / 48 / 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150"/>
                      </a:pPr>
                      <a:r>
                        <a:t>1024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/>
                      </a:pPr>
                      <a:r>
                        <a:t>1053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/>
                      </a:pPr>
                      <a:r>
                        <a:t>16* / 64* / 96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>
                        <a:defRPr sz="1150"/>
                      </a:pPr>
                      <a:r>
                        <a:t>4096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/>
                      </a:pPr>
                      <a:r>
                        <a:t>4125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/>
                      </a:pPr>
                      <a:r>
                        <a:t>16* / 64* / 256*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60720" y="466344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5A5A5A"/>
                </a:solidFill>
                <a:latin typeface="Calibri"/>
              </a:rPr>
              <a:t>* = fifo_full asserted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5029200"/>
            <a:ext cx="5943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22222"/>
                </a:solidFill>
                <a:latin typeface="Calibri"/>
              </a:rPr>
              <a:t>Latency is identical across all 3 FIFO depths for every packet size — depth governs buffering headroom / how early back-pressure engages, not steady-state throughput once the consumer's fixed drain rate is the bottleneck.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A5A5A"/>
                </a:solidFill>
                <a:latin typeface="Calibri"/>
              </a:rPr>
              <a:t>PCIe-AXI DMA Latency Characterisation &amp; Small-Packet Batching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CB8E0"/>
                </a:solidFill>
                <a:latin typeface="Calibri"/>
              </a:rPr>
              <a:t>CHAPTER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Research 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5A5A"/>
                </a:solidFill>
                <a:latin typeface="Calibri"/>
              </a:rPr>
              <a:t>12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73152" cy="9144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371600"/>
            <a:ext cx="39319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A4A"/>
                </a:solidFill>
                <a:latin typeface="Calibri"/>
              </a:rPr>
              <a:t>Validated Analytical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1371600"/>
            <a:ext cx="67665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Closed-form, packet-size-parameterised PCIe+DMA latency model, matched to cycle-accurate HW measurement within a constant residual across a 64× size range.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340864"/>
            <a:ext cx="73152" cy="914400"/>
          </a:xfrm>
          <a:prstGeom prst="rect">
            <a:avLst/>
          </a:prstGeom>
          <a:solidFill>
            <a:srgbClr val="E07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40864"/>
            <a:ext cx="39319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A4A"/>
                </a:solidFill>
                <a:latin typeface="Calibri"/>
              </a:rPr>
              <a:t>Open RTL 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2340864"/>
            <a:ext cx="67665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Synthesisable 7-stage SystemVerilog PCIe-AXI DMA model with a directed, self-checking testbench — re-parameterisable for further study.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310128"/>
            <a:ext cx="73152" cy="914400"/>
          </a:xfrm>
          <a:prstGeom prst="rect">
            <a:avLst/>
          </a:prstGeom>
          <a:solidFill>
            <a:srgbClr val="27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310128"/>
            <a:ext cx="39319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A4A"/>
                </a:solidFill>
                <a:latin typeface="Calibri"/>
              </a:rPr>
              <a:t>In-Design Latency Monitor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3310128"/>
            <a:ext cx="67665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Hardware performance-counter block timestamping injection/completion directly in RTL — avoids software-side reference-point misalignment.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279392"/>
            <a:ext cx="73152" cy="91440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279392"/>
            <a:ext cx="39319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A4A"/>
                </a:solidFill>
                <a:latin typeface="Calibri"/>
              </a:rPr>
              <a:t>Small-Packet Batching Unit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4279392"/>
            <a:ext cx="67665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Zero-buffering pass-through coalescer: 19% latency reduction, 1.25× efficiency, isolated via a single enable-bit A/B comparison.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5248656"/>
            <a:ext cx="73152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248656"/>
            <a:ext cx="39319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A4A"/>
                </a:solidFill>
                <a:latin typeface="Calibri"/>
              </a:rPr>
              <a:t>Buffering vs. Throughput Study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5248656"/>
            <a:ext cx="67665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Always-ready vs. rate-limited sink experiments cleanly separate FIFO buffering headroom from steady-state completion latency.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A5A5A"/>
                </a:solidFill>
                <a:latin typeface="Calibri"/>
              </a:rPr>
              <a:t>PCIe-AXI DMA Latency Characterisation &amp; Small-Packet Batching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CB8E0"/>
                </a:solidFill>
                <a:latin typeface="Calibri"/>
              </a:rPr>
              <a:t>CHAPTER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5A5A"/>
                </a:solidFill>
                <a:latin typeface="Calibri"/>
              </a:rPr>
              <a:t>13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0881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▸  Baseline efficiency rises from 0.90 B/cycle (64B) to 1.58 B/cycle (4KB) — explained, to within a constant 3-cycle residual, by the closed-form PCIe+DMA latency model.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▸  The batching unit reduces the latency of transferring four 64B packets from 284 to 230 cycles (19% reduction) by paying fixed overhead once instead of four times.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▸  FIFO depth governs buffering headroom, not steady-state single-flow latency, once a fixed-rate consumer is the bottleneck — an easily overlooked distinction when sizing DMA buffers from bandwidth specs alone.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4617720"/>
            <a:ext cx="11183112" cy="1691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7548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07422"/>
                </a:solidFill>
                <a:latin typeface="Calibri"/>
              </a:rPr>
              <a:t>Limitations &amp; Future 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120640"/>
            <a:ext cx="10698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222222"/>
                </a:solidFill>
                <a:latin typeface="Calibri"/>
              </a:rPr>
              <a:t>▸  Single packet in flight (no pipelined/overlapping transactions); behavioural, not synthesised, PCIe/DMA IP; no physical FPGA validation.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222222"/>
                </a:solidFill>
                <a:latin typeface="Calibri"/>
              </a:rPr>
              <a:t>▸  Future: multi-packet-in-flight modelling, bursty-workload FIFO study, adaptive batching, validation against commercial IP, hardware bring-up.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A5A5A"/>
                </a:solidFill>
                <a:latin typeface="Calibri"/>
              </a:rPr>
              <a:t>PCIe-AXI DMA Latency Characterisation &amp; Small-Packet Batching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9CB8E0"/>
                </a:solidFill>
                <a:latin typeface="Calibri"/>
              </a:rPr>
              <a:t>KEY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Small-packet PCIe-AXI DMA transfers pay a largely fixed, size-independent
overhead — and a simple RTL batching stage recovers a measurable,
verified fraction of the resulting inefficiency.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49039"/>
            <a:ext cx="2606040" cy="1371600"/>
          </a:xfrm>
          <a:prstGeom prst="rect">
            <a:avLst/>
          </a:prstGeom>
          <a:solidFill>
            <a:srgbClr val="243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931919"/>
            <a:ext cx="2606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617719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9D6E8"/>
                </a:solidFill>
                <a:latin typeface="Calibri"/>
              </a:rPr>
              <a:t>pipeline stages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11880" y="3749039"/>
            <a:ext cx="2606040" cy="1371600"/>
          </a:xfrm>
          <a:prstGeom prst="rect">
            <a:avLst/>
          </a:prstGeom>
          <a:solidFill>
            <a:srgbClr val="243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3931919"/>
            <a:ext cx="2606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64B–4KB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4617719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9D6E8"/>
                </a:solidFill>
                <a:latin typeface="Calibri"/>
              </a:rPr>
              <a:t>packet-size range tested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3749039"/>
            <a:ext cx="2606040" cy="1371600"/>
          </a:xfrm>
          <a:prstGeom prst="rect">
            <a:avLst/>
          </a:prstGeom>
          <a:solidFill>
            <a:srgbClr val="243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3931919"/>
            <a:ext cx="2606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E07422"/>
                </a:solidFill>
                <a:latin typeface="Calibri"/>
              </a:rPr>
              <a:t>19%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4617719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9D6E8"/>
                </a:solidFill>
                <a:latin typeface="Calibri"/>
              </a:rPr>
              <a:t>latency reduction (batching)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89720" y="3749039"/>
            <a:ext cx="2606040" cy="1371600"/>
          </a:xfrm>
          <a:prstGeom prst="rect">
            <a:avLst/>
          </a:prstGeom>
          <a:solidFill>
            <a:srgbClr val="243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9720" y="3931919"/>
            <a:ext cx="2606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±3 cyc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60" y="4617719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9D6E8"/>
                </a:solidFill>
                <a:latin typeface="Calibri"/>
              </a:rPr>
              <a:t>model-to-hardware residual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CB8E0"/>
                </a:solidFill>
                <a:latin typeface="Calibr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5A5A"/>
                </a:solidFill>
                <a:latin typeface="Calibri"/>
              </a:rPr>
              <a:t>15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222222"/>
                </a:solidFill>
              </a:rPr>
              <a:t>[1]  PCI-SIG, “PCI Express Base Specification, Revision 4.0,” 2017.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222222"/>
                </a:solidFill>
              </a:rPr>
              <a:t>[2]  R. Budruk, D. Anderson, T. Shanley, “PCI Express System Architecture,” Addison-Wesley (MindShare Press), 2004.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222222"/>
                </a:solidFill>
              </a:rPr>
              <a:t>[3]  Arm Limited, “AMBA AXI and ACE Protocol Specification,” ARM IHI 0022H, 2021.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222222"/>
                </a:solidFill>
              </a:rPr>
              <a:t>[4]  Arm Limited, “AMBA 4 AXI4-Stream Protocol Specification,” ARM IHI 0051A, 2010.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222222"/>
                </a:solidFill>
              </a:rPr>
              <a:t>[5]  AMD-Xilinx, “AXI DMA v7.1 LogiCORE IP Product Guide,” PG021, 2021.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222222"/>
                </a:solidFill>
              </a:rPr>
              <a:t>[6]  AMD-Xilinx, “UltraScale+ Devices Integrated Block for PCI Express LogiCORE IP Product Guide,” PG213, 2021.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222222"/>
                </a:solidFill>
              </a:rPr>
              <a:t>[7]  AMD-Xilinx, “Vivado Design Suite User Guide: Logic Simulation,” UG900, 2022.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222222"/>
                </a:solidFill>
              </a:rPr>
              <a:t>[8]  R. Neugebauer, G. Antichi, J. F. Zazo, Y. Audzevich, S. López-Buedo, A. W. Moore, “Understanding PCIe Performance for End Host Networking,” ACM SIGCOMM, 2018.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222222"/>
                </a:solidFill>
              </a:rPr>
              <a:t>[9]  J. C. Mogul, K. K. Ramakrishnan, “Eliminating Receive Livelock in an Interrupt-Driven Kernel,” ACM TOCS, 15(3):217–252, 1997.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222222"/>
                </a:solidFill>
              </a:rPr>
              <a:t>[10]  Intel Corporation, “Interrupt Moderation Using Intel GbE Controllers,” AP-450, 2003.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222222"/>
                </a:solidFill>
              </a:rPr>
              <a:t>[11]  L. Kleinrock, “Queueing Systems, Volume 1: Theory,” Wiley-Interscience, 1975.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00">
                <a:solidFill>
                  <a:srgbClr val="222222"/>
                </a:solidFill>
              </a:rPr>
              <a:t>[12]  IEEE, “IEEE Standard for SystemVerilog—Unified Hardware Design, Specification, and Verification Language,” IEEE Std 1800-2017.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